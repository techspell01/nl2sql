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3dd6d80-f23b-e3f6-6121-35941f3fd87c}">
          <p14:sldIdLst>
            <p14:sldId id="256"/>
          </p14:sldIdLst>
        </p14:section>
        <p14:section name="Project" id="{0f10f81b-26ae-1a2c-2d7a-9eef749972e0}">
          <p14:sldIdLst>
            <p14:sldId id="257"/>
            <p14:sldId id="258"/>
            <p14:sldId id="259"/>
            <p14:sldId id="260"/>
          </p14:sldIdLst>
        </p14:section>
        <p14:section name="Close" id="{20662330-502c-88ba-cd01-61962c405217}">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Harinand AS, from B.Tech AI and ML, S7, and my project guide is Alen T Binu sir. My project is called Argus. In Greek mythology, Argus was a giant with a hundred eyes who never slept, the perfect guard. My app works the same way: it watches every query the AI writes before it touches the data. In one line: it lets anyone ask questions about business data in plain English and get correct answers, safely, without knowing any database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Companies keep their data in databases, and to get any answer out you need SQL. Most managers don't know SQL, so they wait for an analyst, sometimes for days, even for simple questions. AI tools can write SQL, but they sometimes guess wrong, and a wrong query could even damage the data. My idea: let people ask in plain English. The AI writes the SQL, but my app checks it before it runs, and the answer comes back as a chart or a number, with the SQL shown so anyone can verify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it works, in four steps. One: you type a question in plain English. Two: the AI turns it into a SQL query. Three: before anything runs, my guard checks the query and blocks anything unsafe. Four: the query runs on the data and you get the answer as a chart, a number or a table. On the right is the real app. I asked for the top five product categories by revenue, and you can see all three steps with their timings: the whole answer took about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this project different is that it is safe and honest. First, every query the AI writes is checked before it runs. On the left is the Guard lab, where I try to attack my own app: here a query tries to delete a whole table, and it is blocked in less than a millisecond. Second, if the data can't answer a question, the app says so. For example, there is no cost data, so it refuses to calculate profit instead of inventing a number. Third, words like revenue have one fixed formula, so the same question always gives the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it works, I tested it like an exam: 22 questions where I already know the correct answer, on the real data of 99,441 orders. It answered all 20 regular questions correctly and correctly refused the 2 impossible ones. Every query ran without errors, and a typical answer takes about 1.3 seconds. The testing also caught two mistakes while I was building, which I fixed. I want to be honest: 100% on 22 questions means the test is still easy. Next, I will grow it to 200 harder questions, let the app ask back when a question is unclear, and put it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I'm happy to take any questions, and I can show the app live if you'd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325880"/>
          </a:xfrm>
          <a:prstGeom prst="rect">
            <a:avLst/>
          </a:prstGeom>
          <a:noFill/>
          <a:ln/>
        </p:spPr>
        <p:txBody>
          <a:bodyPr wrap="square" rtlCol="0"/>
          <a:lstStyle>
            <a:lvl1pPr algn="l" indent="0" marL="0">
              <a:buNone/>
              <a:defRPr lang="en-US" sz="9600" b="1" dirty="0">
                <a:solidFill>
                  <a:schemeClr val="bg1"/>
                </a:solidFill>
              </a:defRPr>
            </a:lvl1pPr>
          </a:lstStyle>
          <a:p>
            <a:pPr algn="l" indent="0" marL="0">
              <a:buNone/>
            </a:pPr>
            <a:endParaRPr lang="en-US" sz="9600" dirty="0"/>
          </a:p>
        </p:txBody>
      </p:sp>
      <p:sp>
        <p:nvSpPr>
          <p:cNvPr id="3" name="Text 0"/>
          <p:cNvSpPr/>
          <p:nvPr>
            <p:ph idx="101" type="body" hasCustomPrompt="1"/>
          </p:nvPr>
        </p:nvSpPr>
        <p:spPr>
          <a:xfrm>
            <a:off x="731520" y="3108960"/>
            <a:ext cx="10058400" cy="822960"/>
          </a:xfrm>
          <a:prstGeom prst="rect">
            <a:avLst/>
          </a:prstGeom>
          <a:noFill/>
          <a:ln/>
        </p:spPr>
        <p:txBody>
          <a:bodyPr wrap="square" rtlCol="0"/>
          <a:lstStyle>
            <a:lvl1pPr algn="l" indent="0" marL="0">
              <a:buNone/>
              <a:defRPr lang="en-US" sz="2200" dirty="0">
                <a:solidFill>
                  <a:schemeClr val="accent4"/>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Argus</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D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698480" cy="114300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731520" y="3383280"/>
            <a:ext cx="10058400" cy="548640"/>
          </a:xfrm>
          <a:prstGeom prst="rect">
            <a:avLst/>
          </a:prstGeom>
          <a:noFill/>
          <a:ln/>
        </p:spPr>
        <p:txBody>
          <a:bodyPr wrap="square" rtlCol="0"/>
          <a:lstStyle>
            <a:lvl1pPr algn="l" indent="0" marL="0">
              <a:buNone/>
              <a:defRPr lang="en-US" sz="2400" dirty="0">
                <a:solidFill>
                  <a:schemeClr val="accent4"/>
                </a:solidFill>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960120"/>
            <a:ext cx="5486400" cy="320040"/>
          </a:xfrm>
          <a:prstGeom prst="rect">
            <a:avLst/>
          </a:prstGeom>
          <a:noFill/>
          <a:ln/>
        </p:spPr>
        <p:txBody>
          <a:bodyPr wrap="square" lIns="0" tIns="0" rIns="0" bIns="0" rtlCol="0" anchor="ctr"/>
          <a:lstStyle/>
          <a:p>
            <a:pPr indent="0" marL="0">
              <a:buNone/>
            </a:pPr>
            <a:r>
              <a:rPr lang="en-US" sz="1200" b="1" spc="400" kern="0" dirty="0">
                <a:solidFill>
                  <a:schemeClr val="accent3"/>
                </a:solidFill>
              </a:rPr>
              <a:t>FINAL YEAR PROJECT</a:t>
            </a:r>
            <a:endParaRPr lang="en-US" sz="1200" dirty="0"/>
          </a:p>
        </p:txBody>
      </p:sp>
      <p:sp>
        <p:nvSpPr>
          <p:cNvPr id="3" name="Text 0"/>
          <p:cNvSpPr/>
          <p:nvPr>
            <p:ph idx="100" type="title" hasCustomPrompt="1"/>
          </p:nvPr>
        </p:nvSpPr>
        <p:spPr>
          <a:xfrm>
            <a:off x="731520" y="1371600"/>
            <a:ext cx="10698480" cy="1325880"/>
          </a:xfrm>
          <a:prstGeom prst="rect">
            <a:avLst/>
          </a:prstGeom>
          <a:noFill/>
          <a:ln/>
        </p:spPr>
        <p:txBody>
          <a:bodyPr wrap="square" lIns="0" tIns="0" rIns="0" bIns="0" rtlCol="0" anchor="t"/>
          <a:lstStyle/>
          <a:p>
            <a:pPr algn="l" indent="0" marL="0">
              <a:buNone/>
            </a:pPr>
            <a:r>
              <a:rPr lang="en-US" sz="9600" b="1" dirty="0">
                <a:solidFill>
                  <a:schemeClr val="bg1"/>
                </a:solidFill>
              </a:rPr>
              <a:t>Argus</a:t>
            </a:r>
            <a:endParaRPr lang="en-US" sz="9600" dirty="0"/>
          </a:p>
        </p:txBody>
      </p:sp>
      <p:sp>
        <p:nvSpPr>
          <p:cNvPr id="4" name="Text 0"/>
          <p:cNvSpPr/>
          <p:nvPr>
            <p:ph idx="101" type="body" hasCustomPrompt="1"/>
          </p:nvPr>
        </p:nvSpPr>
        <p:spPr>
          <a:xfrm>
            <a:off x="731520" y="3108960"/>
            <a:ext cx="10058400" cy="822960"/>
          </a:xfrm>
          <a:prstGeom prst="rect">
            <a:avLst/>
          </a:prstGeom>
          <a:noFill/>
          <a:ln/>
        </p:spPr>
        <p:txBody>
          <a:bodyPr wrap="square" lIns="0" tIns="0" rIns="0" bIns="0" rtlCol="0" anchor="t"/>
          <a:lstStyle/>
          <a:p>
            <a:pPr algn="l" indent="0" marL="0">
              <a:buNone/>
            </a:pPr>
            <a:r>
              <a:rPr lang="en-US" sz="2200" dirty="0">
                <a:solidFill>
                  <a:schemeClr val="accent4"/>
                </a:solidFill>
              </a:rPr>
              <a:t>A guarded AI analyst that answers business questions from data, in plain English</a:t>
            </a:r>
            <a:endParaRPr lang="en-US" sz="2200" dirty="0"/>
          </a:p>
        </p:txBody>
      </p:sp>
      <p:sp>
        <p:nvSpPr>
          <p:cNvPr id="5" name="presenter label"/>
          <p:cNvSpPr txBox="1"/>
          <p:nvPr/>
        </p:nvSpPr>
        <p:spPr>
          <a:xfrm>
            <a:off x="731520" y="4526280"/>
            <a:ext cx="5303520" cy="274320"/>
          </a:xfrm>
          <a:prstGeom prst="rect">
            <a:avLst/>
          </a:prstGeom>
          <a:noFill/>
          <a:ln/>
        </p:spPr>
        <p:txBody>
          <a:bodyPr wrap="square" lIns="0" tIns="0" rIns="0" bIns="0" rtlCol="0" anchor="ctr"/>
          <a:lstStyle/>
          <a:p>
            <a:pPr indent="0" marL="0">
              <a:buNone/>
            </a:pPr>
            <a:r>
              <a:rPr lang="en-US" sz="1100" b="1" spc="300" kern="0" dirty="0">
                <a:solidFill>
                  <a:schemeClr val="accent3"/>
                </a:solidFill>
              </a:rPr>
              <a:t>PRESENTED BY</a:t>
            </a:r>
            <a:endParaRPr lang="en-US" sz="1100" dirty="0"/>
          </a:p>
        </p:txBody>
      </p:sp>
      <p:sp>
        <p:nvSpPr>
          <p:cNvPr id="6" name="presenter name"/>
          <p:cNvSpPr txBox="1"/>
          <p:nvPr/>
        </p:nvSpPr>
        <p:spPr>
          <a:xfrm>
            <a:off x="731520" y="4846320"/>
            <a:ext cx="5303520" cy="411480"/>
          </a:xfrm>
          <a:prstGeom prst="rect">
            <a:avLst/>
          </a:prstGeom>
          <a:noFill/>
          <a:ln/>
        </p:spPr>
        <p:txBody>
          <a:bodyPr wrap="square" lIns="0" tIns="0" rIns="0" bIns="0" rtlCol="0" anchor="ctr"/>
          <a:lstStyle/>
          <a:p>
            <a:pPr indent="0" marL="0">
              <a:buNone/>
            </a:pPr>
            <a:r>
              <a:rPr lang="en-US" sz="2400" b="1" dirty="0">
                <a:solidFill>
                  <a:schemeClr val="bg1"/>
                </a:solidFill>
              </a:rPr>
              <a:t>Harinand AS</a:t>
            </a:r>
            <a:endParaRPr lang="en-US" sz="2400" dirty="0"/>
          </a:p>
        </p:txBody>
      </p:sp>
      <p:sp>
        <p:nvSpPr>
          <p:cNvPr id="7" name="presenter details"/>
          <p:cNvSpPr txBox="1"/>
          <p:nvPr/>
        </p:nvSpPr>
        <p:spPr>
          <a:xfrm>
            <a:off x="731520" y="5321808"/>
            <a:ext cx="5303520" cy="640080"/>
          </a:xfrm>
          <a:prstGeom prst="rect">
            <a:avLst/>
          </a:prstGeom>
          <a:noFill/>
          <a:ln/>
        </p:spPr>
        <p:txBody>
          <a:bodyPr wrap="square" lIns="0" tIns="0" rIns="0" bIns="0" rtlCol="0" anchor="t"/>
          <a:lstStyle/>
          <a:p>
            <a:pPr indent="0" marL="0">
              <a:spcAft>
                <a:spcPts val="200"/>
              </a:spcAft>
              <a:buNone/>
            </a:pPr>
            <a:r>
              <a:rPr lang="en-US" sz="1400" dirty="0">
                <a:solidFill>
                  <a:schemeClr val="accent4"/>
                </a:solidFill>
              </a:rPr>
              <a:t>B.Tech AI &amp; ML  ·  S7</a:t>
            </a:r>
            <a:endParaRPr lang="en-US" sz="1400" dirty="0"/>
          </a:p>
          <a:p>
            <a:pPr indent="0" marL="0">
              <a:spcAft>
                <a:spcPts val="200"/>
              </a:spcAft>
              <a:buNone/>
            </a:pPr>
            <a:r>
              <a:rPr lang="en-US" sz="1400" dirty="0">
                <a:solidFill>
                  <a:schemeClr val="accent4"/>
                </a:solidFill>
              </a:rPr>
              <a:t>Chinmaya Vishwa Vidyapeeth (Deemed to be University)</a:t>
            </a:r>
            <a:endParaRPr lang="en-US" sz="1400" dirty="0"/>
          </a:p>
        </p:txBody>
      </p:sp>
      <p:sp>
        <p:nvSpPr>
          <p:cNvPr id="8" name="guide label"/>
          <p:cNvSpPr txBox="1"/>
          <p:nvPr/>
        </p:nvSpPr>
        <p:spPr>
          <a:xfrm>
            <a:off x="6766560" y="4526280"/>
            <a:ext cx="5303520" cy="274320"/>
          </a:xfrm>
          <a:prstGeom prst="rect">
            <a:avLst/>
          </a:prstGeom>
          <a:noFill/>
          <a:ln/>
        </p:spPr>
        <p:txBody>
          <a:bodyPr wrap="square" lIns="0" tIns="0" rIns="0" bIns="0" rtlCol="0" anchor="ctr"/>
          <a:lstStyle/>
          <a:p>
            <a:pPr indent="0" marL="0">
              <a:buNone/>
            </a:pPr>
            <a:r>
              <a:rPr lang="en-US" sz="1100" b="1" spc="300" kern="0" dirty="0">
                <a:solidFill>
                  <a:schemeClr val="accent3"/>
                </a:solidFill>
              </a:rPr>
              <a:t>PROJECT GUIDE</a:t>
            </a:r>
            <a:endParaRPr lang="en-US" sz="1100" dirty="0"/>
          </a:p>
        </p:txBody>
      </p:sp>
      <p:sp>
        <p:nvSpPr>
          <p:cNvPr id="9" name="guide name"/>
          <p:cNvSpPr txBox="1"/>
          <p:nvPr/>
        </p:nvSpPr>
        <p:spPr>
          <a:xfrm>
            <a:off x="6766560" y="4846320"/>
            <a:ext cx="5303520" cy="411480"/>
          </a:xfrm>
          <a:prstGeom prst="rect">
            <a:avLst/>
          </a:prstGeom>
          <a:noFill/>
          <a:ln/>
        </p:spPr>
        <p:txBody>
          <a:bodyPr wrap="square" lIns="0" tIns="0" rIns="0" bIns="0" rtlCol="0" anchor="ctr"/>
          <a:lstStyle/>
          <a:p>
            <a:pPr indent="0" marL="0">
              <a:buNone/>
            </a:pPr>
            <a:r>
              <a:rPr lang="en-US" sz="2400" b="1" dirty="0">
                <a:solidFill>
                  <a:schemeClr val="bg1"/>
                </a:solidFill>
              </a:rPr>
              <a:t>Alen T Binu</a:t>
            </a:r>
            <a:endParaRPr lang="en-US" sz="2400" dirty="0"/>
          </a:p>
        </p:txBody>
      </p:sp>
      <p:sp>
        <p:nvSpPr>
          <p:cNvPr id="10" name="guide details"/>
          <p:cNvSpPr txBox="1"/>
          <p:nvPr/>
        </p:nvSpPr>
        <p:spPr>
          <a:xfrm>
            <a:off x="6766560" y="5321808"/>
            <a:ext cx="5303520" cy="640080"/>
          </a:xfrm>
          <a:prstGeom prst="rect">
            <a:avLst/>
          </a:prstGeom>
          <a:noFill/>
          <a:ln/>
        </p:spPr>
        <p:txBody>
          <a:bodyPr wrap="square" lIns="0" tIns="0" rIns="0" bIns="0" rtlCol="0" anchor="t"/>
          <a:lstStyle/>
          <a:p>
            <a:pPr indent="0" marL="0">
              <a:spcAft>
                <a:spcPts val="200"/>
              </a:spcAft>
              <a:buNone/>
            </a:pPr>
            <a:r>
              <a:rPr lang="en-US" sz="1400" dirty="0">
                <a:solidFill>
                  <a:schemeClr val="accent4"/>
                </a:solidFill>
              </a:rPr>
              <a:t>Assistant Professor, CST</a:t>
            </a:r>
            <a:endParaRPr lang="en-US" sz="1400" dirty="0"/>
          </a:p>
          <a:p>
            <a:pPr indent="0" marL="0">
              <a:spcAft>
                <a:spcPts val="200"/>
              </a:spcAft>
              <a:buNone/>
            </a:pPr>
            <a:r>
              <a:rPr lang="en-US" sz="1400" dirty="0">
                <a:solidFill>
                  <a:schemeClr val="accent4"/>
                </a:solidFill>
              </a:rPr>
              <a:t>Chinmaya Vishwa Vidyapeeth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t"/>
          <a:lstStyle/>
          <a:p>
            <a:pPr algn="l" indent="0" marL="0">
              <a:buNone/>
            </a:pPr>
            <a:r>
              <a:rPr lang="en-US" sz="3600" b="1" dirty="0">
                <a:solidFill>
                  <a:schemeClr val="tx1"/>
                </a:solidFill>
              </a:rPr>
              <a:t>The problem, and our idea</a:t>
            </a:r>
            <a:endParaRPr lang="en-US" sz="3600" dirty="0"/>
          </a:p>
        </p:txBody>
      </p:sp>
      <p:sp>
        <p:nvSpPr>
          <p:cNvPr id="3" name="problem heading"/>
          <p:cNvSpPr txBox="1"/>
          <p:nvPr/>
        </p:nvSpPr>
        <p:spPr>
          <a:xfrm>
            <a:off x="548640" y="1554480"/>
            <a:ext cx="5212080" cy="411480"/>
          </a:xfrm>
          <a:prstGeom prst="rect">
            <a:avLst/>
          </a:prstGeom>
          <a:noFill/>
          <a:ln/>
        </p:spPr>
        <p:txBody>
          <a:bodyPr wrap="square" lIns="0" tIns="0" rIns="0" bIns="0" rtlCol="0" anchor="ctr"/>
          <a:lstStyle/>
          <a:p>
            <a:pPr indent="0" marL="0">
              <a:buNone/>
            </a:pPr>
            <a:r>
              <a:rPr lang="en-US" sz="2000" b="1" dirty="0">
                <a:solidFill>
                  <a:schemeClr val="tx1"/>
                </a:solidFill>
              </a:rPr>
              <a:t>The problem</a:t>
            </a:r>
            <a:endParaRPr lang="en-US" sz="2000" dirty="0"/>
          </a:p>
        </p:txBody>
      </p:sp>
      <p:sp>
        <p:nvSpPr>
          <p:cNvPr id="4" name="problem 1 circle"/>
          <p:cNvSpPr/>
          <p:nvPr/>
        </p:nvSpPr>
        <p:spPr>
          <a:xfrm>
            <a:off x="548640" y="2148840"/>
            <a:ext cx="548640" cy="548640"/>
          </a:xfrm>
          <a:prstGeom prst="ellipse">
            <a:avLst/>
          </a:prstGeom>
          <a:solidFill>
            <a:schemeClr val="bg2"/>
          </a:solidFill>
          <a:ln w="12700">
            <a:solidFill>
              <a:schemeClr val="bg2"/>
            </a:solidFill>
            <a:prstDash val="solid"/>
          </a:ln>
        </p:spPr>
      </p:sp>
      <p:pic>
        <p:nvPicPr>
          <p:cNvPr id="5" name="problem 1 icon" descr="preencoded.png">    </p:cNvPr>
          <p:cNvPicPr>
            <a:picLocks noChangeAspect="1"/>
          </p:cNvPicPr>
          <p:nvPr/>
        </p:nvPicPr>
        <p:blipFill>
          <a:blip r:embed="rId1"/>
          <a:stretch>
            <a:fillRect/>
          </a:stretch>
        </p:blipFill>
        <p:spPr>
          <a:xfrm>
            <a:off x="685800" y="2286000"/>
            <a:ext cx="274320" cy="274320"/>
          </a:xfrm>
          <a:prstGeom prst="rect">
            <a:avLst/>
          </a:prstGeom>
        </p:spPr>
      </p:pic>
      <p:sp>
        <p:nvSpPr>
          <p:cNvPr id="6" name="problem 1 title"/>
          <p:cNvSpPr txBox="1"/>
          <p:nvPr/>
        </p:nvSpPr>
        <p:spPr>
          <a:xfrm>
            <a:off x="1325880" y="2130552"/>
            <a:ext cx="4434840" cy="320040"/>
          </a:xfrm>
          <a:prstGeom prst="rect">
            <a:avLst/>
          </a:prstGeom>
          <a:noFill/>
          <a:ln/>
        </p:spPr>
        <p:txBody>
          <a:bodyPr wrap="square" lIns="0" tIns="0" rIns="0" bIns="0" rtlCol="0" anchor="ctr"/>
          <a:lstStyle/>
          <a:p>
            <a:pPr indent="0" marL="0">
              <a:buNone/>
            </a:pPr>
            <a:r>
              <a:rPr lang="en-US" sz="1600" b="1" dirty="0">
                <a:solidFill>
                  <a:schemeClr val="tx1"/>
                </a:solidFill>
              </a:rPr>
              <a:t>Data needs SQL</a:t>
            </a:r>
            <a:endParaRPr lang="en-US" sz="1600" dirty="0"/>
          </a:p>
        </p:txBody>
      </p:sp>
      <p:sp>
        <p:nvSpPr>
          <p:cNvPr id="7" name="problem 1 text"/>
          <p:cNvSpPr txBox="1"/>
          <p:nvPr/>
        </p:nvSpPr>
        <p:spPr>
          <a:xfrm>
            <a:off x="1325880" y="2478024"/>
            <a:ext cx="4434840" cy="685800"/>
          </a:xfrm>
          <a:prstGeom prst="rect">
            <a:avLst/>
          </a:prstGeom>
          <a:noFill/>
          <a:ln/>
        </p:spPr>
        <p:txBody>
          <a:bodyPr wrap="square" lIns="0" tIns="0" rIns="0" bIns="0" rtlCol="0" anchor="t"/>
          <a:lstStyle/>
          <a:p>
            <a:pPr indent="0" marL="0">
              <a:buNone/>
            </a:pPr>
            <a:r>
              <a:rPr lang="en-US" sz="1400" dirty="0">
                <a:solidFill>
                  <a:schemeClr val="tx2"/>
                </a:solidFill>
              </a:rPr>
              <a:t>Company data sits in databases, and getting answers out needs SQL, a special database language.</a:t>
            </a:r>
            <a:endParaRPr lang="en-US" sz="1400" dirty="0"/>
          </a:p>
        </p:txBody>
      </p:sp>
      <p:sp>
        <p:nvSpPr>
          <p:cNvPr id="8" name="problem 2 circle"/>
          <p:cNvSpPr/>
          <p:nvPr/>
        </p:nvSpPr>
        <p:spPr>
          <a:xfrm>
            <a:off x="548640" y="3337560"/>
            <a:ext cx="548640" cy="548640"/>
          </a:xfrm>
          <a:prstGeom prst="ellipse">
            <a:avLst/>
          </a:prstGeom>
          <a:solidFill>
            <a:schemeClr val="bg2"/>
          </a:solidFill>
          <a:ln w="12700">
            <a:solidFill>
              <a:schemeClr val="bg2"/>
            </a:solidFill>
            <a:prstDash val="solid"/>
          </a:ln>
        </p:spPr>
      </p:sp>
      <p:pic>
        <p:nvPicPr>
          <p:cNvPr id="9" name="problem 2 icon" descr="preencoded.png">    </p:cNvPr>
          <p:cNvPicPr>
            <a:picLocks noChangeAspect="1"/>
          </p:cNvPicPr>
          <p:nvPr/>
        </p:nvPicPr>
        <p:blipFill>
          <a:blip r:embed="rId2"/>
          <a:stretch>
            <a:fillRect/>
          </a:stretch>
        </p:blipFill>
        <p:spPr>
          <a:xfrm>
            <a:off x="685800" y="3474720"/>
            <a:ext cx="274320" cy="274320"/>
          </a:xfrm>
          <a:prstGeom prst="rect">
            <a:avLst/>
          </a:prstGeom>
        </p:spPr>
      </p:pic>
      <p:sp>
        <p:nvSpPr>
          <p:cNvPr id="10" name="problem 2 title"/>
          <p:cNvSpPr txBox="1"/>
          <p:nvPr/>
        </p:nvSpPr>
        <p:spPr>
          <a:xfrm>
            <a:off x="1325880" y="3319272"/>
            <a:ext cx="4434840" cy="320040"/>
          </a:xfrm>
          <a:prstGeom prst="rect">
            <a:avLst/>
          </a:prstGeom>
          <a:noFill/>
          <a:ln/>
        </p:spPr>
        <p:txBody>
          <a:bodyPr wrap="square" lIns="0" tIns="0" rIns="0" bIns="0" rtlCol="0" anchor="ctr"/>
          <a:lstStyle/>
          <a:p>
            <a:pPr indent="0" marL="0">
              <a:buNone/>
            </a:pPr>
            <a:r>
              <a:rPr lang="en-US" sz="1600" b="1" dirty="0">
                <a:solidFill>
                  <a:schemeClr val="tx1"/>
                </a:solidFill>
              </a:rPr>
              <a:t>People have to wait</a:t>
            </a:r>
            <a:endParaRPr lang="en-US" sz="1600" dirty="0"/>
          </a:p>
        </p:txBody>
      </p:sp>
      <p:sp>
        <p:nvSpPr>
          <p:cNvPr id="11" name="problem 2 text"/>
          <p:cNvSpPr txBox="1"/>
          <p:nvPr/>
        </p:nvSpPr>
        <p:spPr>
          <a:xfrm>
            <a:off x="1325880" y="3666744"/>
            <a:ext cx="4434840" cy="685800"/>
          </a:xfrm>
          <a:prstGeom prst="rect">
            <a:avLst/>
          </a:prstGeom>
          <a:noFill/>
          <a:ln/>
        </p:spPr>
        <p:txBody>
          <a:bodyPr wrap="square" lIns="0" tIns="0" rIns="0" bIns="0" rtlCol="0" anchor="t"/>
          <a:lstStyle/>
          <a:p>
            <a:pPr indent="0" marL="0">
              <a:buNone/>
            </a:pPr>
            <a:r>
              <a:rPr lang="en-US" sz="1400" dirty="0">
                <a:solidFill>
                  <a:schemeClr val="tx2"/>
                </a:solidFill>
              </a:rPr>
              <a:t>Most managers don't know SQL, so even simple questions wait days for a data analyst.</a:t>
            </a:r>
            <a:endParaRPr lang="en-US" sz="1400" dirty="0"/>
          </a:p>
        </p:txBody>
      </p:sp>
      <p:sp>
        <p:nvSpPr>
          <p:cNvPr id="12" name="problem 3 circle"/>
          <p:cNvSpPr/>
          <p:nvPr/>
        </p:nvSpPr>
        <p:spPr>
          <a:xfrm>
            <a:off x="548640" y="4526280"/>
            <a:ext cx="548640" cy="548640"/>
          </a:xfrm>
          <a:prstGeom prst="ellipse">
            <a:avLst/>
          </a:prstGeom>
          <a:solidFill>
            <a:schemeClr val="bg2"/>
          </a:solidFill>
          <a:ln w="12700">
            <a:solidFill>
              <a:schemeClr val="bg2"/>
            </a:solidFill>
            <a:prstDash val="solid"/>
          </a:ln>
        </p:spPr>
      </p:sp>
      <p:pic>
        <p:nvPicPr>
          <p:cNvPr id="13" name="problem 3 icon" descr="preencoded.png">    </p:cNvPr>
          <p:cNvPicPr>
            <a:picLocks noChangeAspect="1"/>
          </p:cNvPicPr>
          <p:nvPr/>
        </p:nvPicPr>
        <p:blipFill>
          <a:blip r:embed="rId3"/>
          <a:stretch>
            <a:fillRect/>
          </a:stretch>
        </p:blipFill>
        <p:spPr>
          <a:xfrm>
            <a:off x="685800" y="4663440"/>
            <a:ext cx="274320" cy="274320"/>
          </a:xfrm>
          <a:prstGeom prst="rect">
            <a:avLst/>
          </a:prstGeom>
        </p:spPr>
      </p:pic>
      <p:sp>
        <p:nvSpPr>
          <p:cNvPr id="14" name="problem 3 title"/>
          <p:cNvSpPr txBox="1"/>
          <p:nvPr/>
        </p:nvSpPr>
        <p:spPr>
          <a:xfrm>
            <a:off x="1325880" y="4507992"/>
            <a:ext cx="4434840" cy="320040"/>
          </a:xfrm>
          <a:prstGeom prst="rect">
            <a:avLst/>
          </a:prstGeom>
          <a:noFill/>
          <a:ln/>
        </p:spPr>
        <p:txBody>
          <a:bodyPr wrap="square" lIns="0" tIns="0" rIns="0" bIns="0" rtlCol="0" anchor="ctr"/>
          <a:lstStyle/>
          <a:p>
            <a:pPr indent="0" marL="0">
              <a:buNone/>
            </a:pPr>
            <a:r>
              <a:rPr lang="en-US" sz="1600" b="1" dirty="0">
                <a:solidFill>
                  <a:schemeClr val="tx1"/>
                </a:solidFill>
              </a:rPr>
              <a:t>AI alone isn't safe</a:t>
            </a:r>
            <a:endParaRPr lang="en-US" sz="1600" dirty="0"/>
          </a:p>
        </p:txBody>
      </p:sp>
      <p:sp>
        <p:nvSpPr>
          <p:cNvPr id="15" name="problem 3 text"/>
          <p:cNvSpPr txBox="1"/>
          <p:nvPr/>
        </p:nvSpPr>
        <p:spPr>
          <a:xfrm>
            <a:off x="1325880" y="4855464"/>
            <a:ext cx="4434840" cy="685800"/>
          </a:xfrm>
          <a:prstGeom prst="rect">
            <a:avLst/>
          </a:prstGeom>
          <a:noFill/>
          <a:ln/>
        </p:spPr>
        <p:txBody>
          <a:bodyPr wrap="square" lIns="0" tIns="0" rIns="0" bIns="0" rtlCol="0" anchor="t"/>
          <a:lstStyle/>
          <a:p>
            <a:pPr indent="0" marL="0">
              <a:buNone/>
            </a:pPr>
            <a:r>
              <a:rPr lang="en-US" sz="1400" dirty="0">
                <a:solidFill>
                  <a:schemeClr val="tx2"/>
                </a:solidFill>
              </a:rPr>
              <a:t>AI can write SQL, but it sometimes guesses wrong, or writes a query that could damage the data.</a:t>
            </a:r>
            <a:endParaRPr lang="en-US" sz="1400" dirty="0"/>
          </a:p>
        </p:txBody>
      </p:sp>
      <p:sp>
        <p:nvSpPr>
          <p:cNvPr id="16" name="idea card"/>
          <p:cNvSpPr/>
          <p:nvPr/>
        </p:nvSpPr>
        <p:spPr>
          <a:xfrm>
            <a:off x="6309360" y="1554480"/>
            <a:ext cx="5333695" cy="4160520"/>
          </a:xfrm>
          <a:prstGeom prst="roundRect">
            <a:avLst>
              <a:gd name="adj" fmla="val 3077"/>
            </a:avLst>
          </a:prstGeom>
          <a:solidFill>
            <a:schemeClr val="tx1"/>
          </a:solidFill>
          <a:ln w="12700">
            <a:solidFill>
              <a:schemeClr val="tx1"/>
            </a:solidFill>
            <a:prstDash val="solid"/>
          </a:ln>
        </p:spPr>
      </p:sp>
      <p:sp>
        <p:nvSpPr>
          <p:cNvPr id="17" name="idea heading"/>
          <p:cNvSpPr txBox="1"/>
          <p:nvPr/>
        </p:nvSpPr>
        <p:spPr>
          <a:xfrm>
            <a:off x="6675120" y="1828800"/>
            <a:ext cx="4602175" cy="411480"/>
          </a:xfrm>
          <a:prstGeom prst="rect">
            <a:avLst/>
          </a:prstGeom>
          <a:noFill/>
          <a:ln/>
        </p:spPr>
        <p:txBody>
          <a:bodyPr wrap="square" lIns="0" tIns="0" rIns="0" bIns="0" rtlCol="0" anchor="ctr"/>
          <a:lstStyle/>
          <a:p>
            <a:pPr indent="0" marL="0">
              <a:buNone/>
            </a:pPr>
            <a:r>
              <a:rPr lang="en-US" sz="2000" b="1" dirty="0">
                <a:solidFill>
                  <a:schemeClr val="bg1"/>
                </a:solidFill>
              </a:rPr>
              <a:t>Our idea</a:t>
            </a:r>
            <a:endParaRPr lang="en-US" sz="2000" dirty="0"/>
          </a:p>
        </p:txBody>
      </p:sp>
      <p:sp>
        <p:nvSpPr>
          <p:cNvPr id="18" name="idea points"/>
          <p:cNvSpPr txBox="1"/>
          <p:nvPr/>
        </p:nvSpPr>
        <p:spPr>
          <a:xfrm>
            <a:off x="6675120" y="2377440"/>
            <a:ext cx="4602175" cy="17830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bg1"/>
                </a:solidFill>
              </a:rPr>
              <a:t>Ask in plain English, the way you would ask a colleague.</a:t>
            </a:r>
            <a:endParaRPr lang="en-US" sz="1500" dirty="0"/>
          </a:p>
          <a:p>
            <a:pPr marL="228600" indent="-228600">
              <a:spcAft>
                <a:spcPts val="800"/>
              </a:spcAft>
              <a:buSzPct val="100000"/>
              <a:buChar char="•"/>
            </a:pPr>
            <a:r>
              <a:rPr lang="en-US" sz="1500" dirty="0">
                <a:solidFill>
                  <a:schemeClr val="bg1"/>
                </a:solidFill>
              </a:rPr>
              <a:t>AI writes the SQL, and the app checks it before it runs.</a:t>
            </a:r>
            <a:endParaRPr lang="en-US" sz="1500" dirty="0"/>
          </a:p>
          <a:p>
            <a:pPr marL="228600" indent="-228600">
              <a:spcAft>
                <a:spcPts val="800"/>
              </a:spcAft>
              <a:buSzPct val="100000"/>
              <a:buChar char="•"/>
            </a:pPr>
            <a:r>
              <a:rPr lang="en-US" sz="1500" dirty="0">
                <a:solidFill>
                  <a:schemeClr val="bg1"/>
                </a:solidFill>
              </a:rPr>
              <a:t>The answer comes back as a chart or a number, with the SQL shown so anyone can check it.</a:t>
            </a:r>
            <a:endParaRPr lang="en-US" sz="1500" dirty="0"/>
          </a:p>
        </p:txBody>
      </p:sp>
      <p:sp>
        <p:nvSpPr>
          <p:cNvPr id="19" name="example box"/>
          <p:cNvSpPr/>
          <p:nvPr/>
        </p:nvSpPr>
        <p:spPr>
          <a:xfrm>
            <a:off x="6675120" y="4251960"/>
            <a:ext cx="4602175" cy="1097280"/>
          </a:xfrm>
          <a:prstGeom prst="roundRect">
            <a:avLst>
              <a:gd name="adj" fmla="val 8333"/>
            </a:avLst>
          </a:prstGeom>
          <a:solidFill>
            <a:schemeClr val="accent6"/>
          </a:solidFill>
          <a:ln w="12700">
            <a:solidFill>
              <a:schemeClr val="accent6"/>
            </a:solidFill>
            <a:prstDash val="solid"/>
          </a:ln>
        </p:spPr>
      </p:sp>
      <p:sp>
        <p:nvSpPr>
          <p:cNvPr id="20" name="example text"/>
          <p:cNvSpPr txBox="1"/>
          <p:nvPr/>
        </p:nvSpPr>
        <p:spPr>
          <a:xfrm>
            <a:off x="6903720" y="4251960"/>
            <a:ext cx="4144975" cy="1097280"/>
          </a:xfrm>
          <a:prstGeom prst="rect">
            <a:avLst/>
          </a:prstGeom>
          <a:noFill/>
          <a:ln/>
        </p:spPr>
        <p:txBody>
          <a:bodyPr wrap="square" lIns="0" tIns="0" rIns="0" bIns="0" rtlCol="0" anchor="ctr"/>
          <a:lstStyle/>
          <a:p>
            <a:pPr indent="0" marL="0">
              <a:spcAft>
                <a:spcPts val="400"/>
              </a:spcAft>
              <a:buNone/>
            </a:pPr>
            <a:r>
              <a:rPr lang="en-US" sz="1000" b="1" spc="300" kern="0" dirty="0">
                <a:solidFill>
                  <a:schemeClr val="accent3"/>
                </a:solidFill>
              </a:rPr>
              <a:t>EXAMPLE</a:t>
            </a:r>
            <a:endParaRPr lang="en-US" sz="1000" dirty="0"/>
          </a:p>
          <a:p>
            <a:pPr indent="0" marL="0">
              <a:spcAft>
                <a:spcPts val="400"/>
              </a:spcAft>
              <a:buNone/>
            </a:pPr>
            <a:r>
              <a:rPr lang="en-US" sz="1500" i="1" dirty="0">
                <a:solidFill>
                  <a:schemeClr val="bg1"/>
                </a:solidFill>
              </a:rPr>
              <a:t>“Which product categories earned the most money?”</a:t>
            </a:r>
            <a:endParaRPr lang="en-US" sz="1000" dirty="0"/>
          </a:p>
          <a:p>
            <a:pPr indent="0" marL="0">
              <a:spcAft>
                <a:spcPts val="400"/>
              </a:spcAft>
              <a:buNone/>
            </a:pPr>
            <a:r>
              <a:rPr lang="en-US" sz="1200" dirty="0">
                <a:solidFill>
                  <a:schemeClr val="accent4"/>
                </a:solidFill>
              </a:rPr>
              <a:t>Answered in about a second, from 99,441 real orders</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t"/>
          <a:lstStyle/>
          <a:p>
            <a:pPr algn="l" indent="0" marL="0">
              <a:buNone/>
            </a:pPr>
            <a:r>
              <a:rPr lang="en-US" sz="3600" b="1" dirty="0">
                <a:solidFill>
                  <a:schemeClr val="tx1"/>
                </a:solidFill>
              </a:rPr>
              <a:t>How it works</a:t>
            </a:r>
            <a:endParaRPr lang="en-US" sz="3600" dirty="0"/>
          </a:p>
        </p:txBody>
      </p:sp>
      <p:sp>
        <p:nvSpPr>
          <p:cNvPr id="3" name="step 1 connector"/>
          <p:cNvSpPr/>
          <p:nvPr/>
        </p:nvSpPr>
        <p:spPr>
          <a:xfrm>
            <a:off x="777240" y="2203704"/>
            <a:ext cx="0" cy="420624"/>
          </a:xfrm>
          <a:prstGeom prst="line">
            <a:avLst/>
          </a:prstGeom>
          <a:noFill/>
          <a:ln w="15875">
            <a:solidFill>
              <a:schemeClr val="accent5"/>
            </a:solidFill>
            <a:prstDash val="solid"/>
          </a:ln>
        </p:spPr>
      </p:sp>
      <p:sp>
        <p:nvSpPr>
          <p:cNvPr id="4" name="step 1 circle"/>
          <p:cNvSpPr/>
          <p:nvPr/>
        </p:nvSpPr>
        <p:spPr>
          <a:xfrm>
            <a:off x="548640" y="1691640"/>
            <a:ext cx="457200" cy="457200"/>
          </a:xfrm>
          <a:prstGeom prst="ellipse">
            <a:avLst/>
          </a:prstGeom>
          <a:solidFill>
            <a:schemeClr val="tx1"/>
          </a:solidFill>
          <a:ln w="12700">
            <a:solidFill>
              <a:schemeClr val="tx1"/>
            </a:solidFill>
            <a:prstDash val="solid"/>
          </a:ln>
        </p:spPr>
      </p:sp>
      <p:sp>
        <p:nvSpPr>
          <p:cNvPr id="5" name="step 1 number"/>
          <p:cNvSpPr txBox="1"/>
          <p:nvPr/>
        </p:nvSpPr>
        <p:spPr>
          <a:xfrm>
            <a:off x="54864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step 1 title"/>
          <p:cNvSpPr txBox="1"/>
          <p:nvPr/>
        </p:nvSpPr>
        <p:spPr>
          <a:xfrm>
            <a:off x="1234440" y="1673352"/>
            <a:ext cx="3246120" cy="320040"/>
          </a:xfrm>
          <a:prstGeom prst="rect">
            <a:avLst/>
          </a:prstGeom>
          <a:noFill/>
          <a:ln/>
        </p:spPr>
        <p:txBody>
          <a:bodyPr wrap="square" lIns="0" tIns="0" rIns="0" bIns="0" rtlCol="0" anchor="ctr"/>
          <a:lstStyle/>
          <a:p>
            <a:pPr indent="0" marL="0">
              <a:buNone/>
            </a:pPr>
            <a:r>
              <a:rPr lang="en-US" sz="1700" b="1" dirty="0">
                <a:solidFill>
                  <a:schemeClr val="tx1"/>
                </a:solidFill>
              </a:rPr>
              <a:t>Ask</a:t>
            </a:r>
            <a:endParaRPr lang="en-US" sz="1700" dirty="0"/>
          </a:p>
        </p:txBody>
      </p:sp>
      <p:sp>
        <p:nvSpPr>
          <p:cNvPr id="7" name="step 1 text"/>
          <p:cNvSpPr txBox="1"/>
          <p:nvPr/>
        </p:nvSpPr>
        <p:spPr>
          <a:xfrm>
            <a:off x="1234440" y="2020824"/>
            <a:ext cx="3246120" cy="548640"/>
          </a:xfrm>
          <a:prstGeom prst="rect">
            <a:avLst/>
          </a:prstGeom>
          <a:noFill/>
          <a:ln/>
        </p:spPr>
        <p:txBody>
          <a:bodyPr wrap="square" lIns="0" tIns="0" rIns="0" bIns="0" rtlCol="0" anchor="t"/>
          <a:lstStyle/>
          <a:p>
            <a:pPr indent="0" marL="0">
              <a:buNone/>
            </a:pPr>
            <a:r>
              <a:rPr lang="en-US" sz="1400" dirty="0">
                <a:solidFill>
                  <a:schemeClr val="tx2"/>
                </a:solidFill>
              </a:rPr>
              <a:t>Type a question in plain English.</a:t>
            </a:r>
            <a:endParaRPr lang="en-US" sz="1400" dirty="0"/>
          </a:p>
        </p:txBody>
      </p:sp>
      <p:sp>
        <p:nvSpPr>
          <p:cNvPr id="8" name="step 2 connector"/>
          <p:cNvSpPr/>
          <p:nvPr/>
        </p:nvSpPr>
        <p:spPr>
          <a:xfrm>
            <a:off x="777240" y="3191256"/>
            <a:ext cx="0" cy="420624"/>
          </a:xfrm>
          <a:prstGeom prst="line">
            <a:avLst/>
          </a:prstGeom>
          <a:noFill/>
          <a:ln w="15875">
            <a:solidFill>
              <a:schemeClr val="accent5"/>
            </a:solidFill>
            <a:prstDash val="solid"/>
          </a:ln>
        </p:spPr>
      </p:sp>
      <p:sp>
        <p:nvSpPr>
          <p:cNvPr id="9" name="step 2 circle"/>
          <p:cNvSpPr/>
          <p:nvPr/>
        </p:nvSpPr>
        <p:spPr>
          <a:xfrm>
            <a:off x="548640" y="2679192"/>
            <a:ext cx="457200" cy="457200"/>
          </a:xfrm>
          <a:prstGeom prst="ellipse">
            <a:avLst/>
          </a:prstGeom>
          <a:solidFill>
            <a:schemeClr val="tx1"/>
          </a:solidFill>
          <a:ln w="12700">
            <a:solidFill>
              <a:schemeClr val="tx1"/>
            </a:solidFill>
            <a:prstDash val="solid"/>
          </a:ln>
        </p:spPr>
      </p:sp>
      <p:sp>
        <p:nvSpPr>
          <p:cNvPr id="10" name="step 2 number"/>
          <p:cNvSpPr txBox="1"/>
          <p:nvPr/>
        </p:nvSpPr>
        <p:spPr>
          <a:xfrm>
            <a:off x="548640" y="26791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step 2 title"/>
          <p:cNvSpPr txBox="1"/>
          <p:nvPr/>
        </p:nvSpPr>
        <p:spPr>
          <a:xfrm>
            <a:off x="1234440" y="2660904"/>
            <a:ext cx="3246120" cy="320040"/>
          </a:xfrm>
          <a:prstGeom prst="rect">
            <a:avLst/>
          </a:prstGeom>
          <a:noFill/>
          <a:ln/>
        </p:spPr>
        <p:txBody>
          <a:bodyPr wrap="square" lIns="0" tIns="0" rIns="0" bIns="0" rtlCol="0" anchor="ctr"/>
          <a:lstStyle/>
          <a:p>
            <a:pPr indent="0" marL="0">
              <a:buNone/>
            </a:pPr>
            <a:r>
              <a:rPr lang="en-US" sz="1700" b="1" dirty="0">
                <a:solidFill>
                  <a:schemeClr val="tx1"/>
                </a:solidFill>
              </a:rPr>
              <a:t>Write</a:t>
            </a:r>
            <a:endParaRPr lang="en-US" sz="1700" dirty="0"/>
          </a:p>
        </p:txBody>
      </p:sp>
      <p:sp>
        <p:nvSpPr>
          <p:cNvPr id="12" name="step 2 text"/>
          <p:cNvSpPr txBox="1"/>
          <p:nvPr/>
        </p:nvSpPr>
        <p:spPr>
          <a:xfrm>
            <a:off x="1234440" y="3008376"/>
            <a:ext cx="3246120" cy="548640"/>
          </a:xfrm>
          <a:prstGeom prst="rect">
            <a:avLst/>
          </a:prstGeom>
          <a:noFill/>
          <a:ln/>
        </p:spPr>
        <p:txBody>
          <a:bodyPr wrap="square" lIns="0" tIns="0" rIns="0" bIns="0" rtlCol="0" anchor="t"/>
          <a:lstStyle/>
          <a:p>
            <a:pPr indent="0" marL="0">
              <a:buNone/>
            </a:pPr>
            <a:r>
              <a:rPr lang="en-US" sz="1400" dirty="0">
                <a:solidFill>
                  <a:schemeClr val="tx2"/>
                </a:solidFill>
              </a:rPr>
              <a:t>AI turns it into a SQL query.</a:t>
            </a:r>
            <a:endParaRPr lang="en-US" sz="1400" dirty="0"/>
          </a:p>
        </p:txBody>
      </p:sp>
      <p:sp>
        <p:nvSpPr>
          <p:cNvPr id="13" name="step 3 connector"/>
          <p:cNvSpPr/>
          <p:nvPr/>
        </p:nvSpPr>
        <p:spPr>
          <a:xfrm>
            <a:off x="777240" y="4178808"/>
            <a:ext cx="0" cy="420624"/>
          </a:xfrm>
          <a:prstGeom prst="line">
            <a:avLst/>
          </a:prstGeom>
          <a:noFill/>
          <a:ln w="15875">
            <a:solidFill>
              <a:schemeClr val="accent5"/>
            </a:solidFill>
            <a:prstDash val="solid"/>
          </a:ln>
        </p:spPr>
      </p:sp>
      <p:sp>
        <p:nvSpPr>
          <p:cNvPr id="14" name="step 3 circle"/>
          <p:cNvSpPr/>
          <p:nvPr/>
        </p:nvSpPr>
        <p:spPr>
          <a:xfrm>
            <a:off x="548640" y="3666744"/>
            <a:ext cx="457200" cy="457200"/>
          </a:xfrm>
          <a:prstGeom prst="ellipse">
            <a:avLst/>
          </a:prstGeom>
          <a:solidFill>
            <a:schemeClr val="tx1"/>
          </a:solidFill>
          <a:ln w="12700">
            <a:solidFill>
              <a:schemeClr val="tx1"/>
            </a:solidFill>
            <a:prstDash val="solid"/>
          </a:ln>
        </p:spPr>
      </p:sp>
      <p:sp>
        <p:nvSpPr>
          <p:cNvPr id="15" name="step 3 number"/>
          <p:cNvSpPr txBox="1"/>
          <p:nvPr/>
        </p:nvSpPr>
        <p:spPr>
          <a:xfrm>
            <a:off x="548640" y="36667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step 3 title"/>
          <p:cNvSpPr txBox="1"/>
          <p:nvPr/>
        </p:nvSpPr>
        <p:spPr>
          <a:xfrm>
            <a:off x="1234440" y="3648456"/>
            <a:ext cx="3246120" cy="320040"/>
          </a:xfrm>
          <a:prstGeom prst="rect">
            <a:avLst/>
          </a:prstGeom>
          <a:noFill/>
          <a:ln/>
        </p:spPr>
        <p:txBody>
          <a:bodyPr wrap="square" lIns="0" tIns="0" rIns="0" bIns="0" rtlCol="0" anchor="ctr"/>
          <a:lstStyle/>
          <a:p>
            <a:pPr indent="0" marL="0">
              <a:buNone/>
            </a:pPr>
            <a:r>
              <a:rPr lang="en-US" sz="1700" b="1" dirty="0">
                <a:solidFill>
                  <a:schemeClr val="tx1"/>
                </a:solidFill>
              </a:rPr>
              <a:t>Check</a:t>
            </a:r>
            <a:endParaRPr lang="en-US" sz="1700" dirty="0"/>
          </a:p>
        </p:txBody>
      </p:sp>
      <p:sp>
        <p:nvSpPr>
          <p:cNvPr id="17" name="step 3 text"/>
          <p:cNvSpPr txBox="1"/>
          <p:nvPr/>
        </p:nvSpPr>
        <p:spPr>
          <a:xfrm>
            <a:off x="1234440" y="3995928"/>
            <a:ext cx="3246120" cy="548640"/>
          </a:xfrm>
          <a:prstGeom prst="rect">
            <a:avLst/>
          </a:prstGeom>
          <a:noFill/>
          <a:ln/>
        </p:spPr>
        <p:txBody>
          <a:bodyPr wrap="square" lIns="0" tIns="0" rIns="0" bIns="0" rtlCol="0" anchor="t"/>
          <a:lstStyle/>
          <a:p>
            <a:pPr indent="0" marL="0">
              <a:buNone/>
            </a:pPr>
            <a:r>
              <a:rPr lang="en-US" sz="1400" dirty="0">
                <a:solidFill>
                  <a:schemeClr val="tx2"/>
                </a:solidFill>
              </a:rPr>
              <a:t>The guard blocks anything unsafe.</a:t>
            </a:r>
            <a:endParaRPr lang="en-US" sz="1400" dirty="0"/>
          </a:p>
        </p:txBody>
      </p:sp>
      <p:sp>
        <p:nvSpPr>
          <p:cNvPr id="18" name="step 4 circle"/>
          <p:cNvSpPr/>
          <p:nvPr/>
        </p:nvSpPr>
        <p:spPr>
          <a:xfrm>
            <a:off x="548640" y="4654296"/>
            <a:ext cx="457200" cy="457200"/>
          </a:xfrm>
          <a:prstGeom prst="ellipse">
            <a:avLst/>
          </a:prstGeom>
          <a:solidFill>
            <a:schemeClr val="tx1"/>
          </a:solidFill>
          <a:ln w="12700">
            <a:solidFill>
              <a:schemeClr val="tx1"/>
            </a:solidFill>
            <a:prstDash val="solid"/>
          </a:ln>
        </p:spPr>
      </p:sp>
      <p:sp>
        <p:nvSpPr>
          <p:cNvPr id="19" name="step 4 number"/>
          <p:cNvSpPr txBox="1"/>
          <p:nvPr/>
        </p:nvSpPr>
        <p:spPr>
          <a:xfrm>
            <a:off x="548640" y="46542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step 4 title"/>
          <p:cNvSpPr txBox="1"/>
          <p:nvPr/>
        </p:nvSpPr>
        <p:spPr>
          <a:xfrm>
            <a:off x="1234440" y="4636008"/>
            <a:ext cx="3246120" cy="320040"/>
          </a:xfrm>
          <a:prstGeom prst="rect">
            <a:avLst/>
          </a:prstGeom>
          <a:noFill/>
          <a:ln/>
        </p:spPr>
        <p:txBody>
          <a:bodyPr wrap="square" lIns="0" tIns="0" rIns="0" bIns="0" rtlCol="0" anchor="ctr"/>
          <a:lstStyle/>
          <a:p>
            <a:pPr indent="0" marL="0">
              <a:buNone/>
            </a:pPr>
            <a:r>
              <a:rPr lang="en-US" sz="1700" b="1" dirty="0">
                <a:solidFill>
                  <a:schemeClr val="tx1"/>
                </a:solidFill>
              </a:rPr>
              <a:t>Answer</a:t>
            </a:r>
            <a:endParaRPr lang="en-US" sz="1700" dirty="0"/>
          </a:p>
        </p:txBody>
      </p:sp>
      <p:sp>
        <p:nvSpPr>
          <p:cNvPr id="21" name="step 4 text"/>
          <p:cNvSpPr txBox="1"/>
          <p:nvPr/>
        </p:nvSpPr>
        <p:spPr>
          <a:xfrm>
            <a:off x="1234440" y="4983480"/>
            <a:ext cx="3246120" cy="548640"/>
          </a:xfrm>
          <a:prstGeom prst="rect">
            <a:avLst/>
          </a:prstGeom>
          <a:noFill/>
          <a:ln/>
        </p:spPr>
        <p:txBody>
          <a:bodyPr wrap="square" lIns="0" tIns="0" rIns="0" bIns="0" rtlCol="0" anchor="t"/>
          <a:lstStyle/>
          <a:p>
            <a:pPr indent="0" marL="0">
              <a:buNone/>
            </a:pPr>
            <a:r>
              <a:rPr lang="en-US" sz="1400" dirty="0">
                <a:solidFill>
                  <a:schemeClr val="tx2"/>
                </a:solidFill>
              </a:rPr>
              <a:t>Get a chart or table, plus the SQL.</a:t>
            </a:r>
            <a:endParaRPr lang="en-US" sz="1400" dirty="0"/>
          </a:p>
        </p:txBody>
      </p:sp>
      <p:pic>
        <p:nvPicPr>
          <p:cNvPr id="22" name="ask screenshot" descr="The live app answering a real question. Each step shows how long it took.">    </p:cNvPr>
          <p:cNvPicPr>
            <a:picLocks noChangeAspect="1"/>
          </p:cNvPicPr>
          <p:nvPr/>
        </p:nvPicPr>
        <p:blipFill>
          <a:blip r:embed="rId1"/>
          <a:stretch>
            <a:fillRect/>
          </a:stretch>
        </p:blipFill>
        <p:spPr>
          <a:xfrm>
            <a:off x="4663440" y="1600200"/>
            <a:ext cx="6979615" cy="3392869"/>
          </a:xfrm>
          <a:prstGeom prst="rect">
            <a:avLst/>
          </a:prstGeom>
        </p:spPr>
      </p:pic>
      <p:sp>
        <p:nvSpPr>
          <p:cNvPr id="23" name="ask frame"/>
          <p:cNvSpPr/>
          <p:nvPr/>
        </p:nvSpPr>
        <p:spPr>
          <a:xfrm>
            <a:off x="4663440" y="1600200"/>
            <a:ext cx="6979615" cy="3392869"/>
          </a:xfrm>
          <a:prstGeom prst="rect">
            <a:avLst/>
          </a:prstGeom>
          <a:solidFill>
            <a:schemeClr val="bg1">
              <a:alpha val="0"/>
            </a:schemeClr>
          </a:solidFill>
          <a:ln w="9525">
            <a:solidFill>
              <a:schemeClr val="accent5"/>
            </a:solidFill>
            <a:prstDash val="solid"/>
          </a:ln>
        </p:spPr>
      </p:sp>
      <p:sp>
        <p:nvSpPr>
          <p:cNvPr id="24" name="ask caption"/>
          <p:cNvSpPr txBox="1"/>
          <p:nvPr/>
        </p:nvSpPr>
        <p:spPr>
          <a:xfrm>
            <a:off x="4663440" y="5130229"/>
            <a:ext cx="6979615" cy="320040"/>
          </a:xfrm>
          <a:prstGeom prst="rect">
            <a:avLst/>
          </a:prstGeom>
          <a:noFill/>
          <a:ln/>
        </p:spPr>
        <p:txBody>
          <a:bodyPr wrap="square" lIns="0" tIns="0" rIns="0" bIns="0" rtlCol="0" anchor="ctr"/>
          <a:lstStyle/>
          <a:p>
            <a:pPr indent="0" marL="0">
              <a:buNone/>
            </a:pPr>
            <a:r>
              <a:rPr lang="en-US" sz="1200" dirty="0">
                <a:solidFill>
                  <a:schemeClr val="accent3"/>
                </a:solidFill>
              </a:rPr>
              <a:t>The live app answering a real question. Each step shows how long it took.</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t"/>
          <a:lstStyle/>
          <a:p>
            <a:pPr algn="l" indent="0" marL="0">
              <a:buNone/>
            </a:pPr>
            <a:r>
              <a:rPr lang="en-US" sz="3600" b="1" dirty="0">
                <a:solidFill>
                  <a:schemeClr val="tx1"/>
                </a:solidFill>
              </a:rPr>
              <a:t>Safe and honest by design</a:t>
            </a:r>
            <a:endParaRPr lang="en-US" sz="3600" dirty="0"/>
          </a:p>
        </p:txBody>
      </p:sp>
      <p:pic>
        <p:nvPicPr>
          <p:cNvPr id="3" name="guard screenshot" descr="Guard lab: a query that tries to delete a table is stopped before it reaches the data.">    </p:cNvPr>
          <p:cNvPicPr>
            <a:picLocks noChangeAspect="1"/>
          </p:cNvPicPr>
          <p:nvPr/>
        </p:nvPicPr>
        <p:blipFill>
          <a:blip r:embed="rId1"/>
          <a:stretch>
            <a:fillRect/>
          </a:stretch>
        </p:blipFill>
        <p:spPr>
          <a:xfrm>
            <a:off x="548640" y="1600200"/>
            <a:ext cx="6675120" cy="3337560"/>
          </a:xfrm>
          <a:prstGeom prst="rect">
            <a:avLst/>
          </a:prstGeom>
        </p:spPr>
      </p:pic>
      <p:sp>
        <p:nvSpPr>
          <p:cNvPr id="4" name="guard frame"/>
          <p:cNvSpPr/>
          <p:nvPr/>
        </p:nvSpPr>
        <p:spPr>
          <a:xfrm>
            <a:off x="548640" y="1600200"/>
            <a:ext cx="6675120" cy="3337560"/>
          </a:xfrm>
          <a:prstGeom prst="rect">
            <a:avLst/>
          </a:prstGeom>
          <a:solidFill>
            <a:schemeClr val="bg1">
              <a:alpha val="0"/>
            </a:schemeClr>
          </a:solidFill>
          <a:ln w="9525">
            <a:solidFill>
              <a:schemeClr val="accent5"/>
            </a:solidFill>
            <a:prstDash val="solid"/>
          </a:ln>
        </p:spPr>
      </p:sp>
      <p:sp>
        <p:nvSpPr>
          <p:cNvPr id="5" name="guard caption"/>
          <p:cNvSpPr txBox="1"/>
          <p:nvPr/>
        </p:nvSpPr>
        <p:spPr>
          <a:xfrm>
            <a:off x="548640" y="5074920"/>
            <a:ext cx="6675120" cy="320040"/>
          </a:xfrm>
          <a:prstGeom prst="rect">
            <a:avLst/>
          </a:prstGeom>
          <a:noFill/>
          <a:ln/>
        </p:spPr>
        <p:txBody>
          <a:bodyPr wrap="square" lIns="0" tIns="0" rIns="0" bIns="0" rtlCol="0" anchor="ctr"/>
          <a:lstStyle/>
          <a:p>
            <a:pPr indent="0" marL="0">
              <a:buNone/>
            </a:pPr>
            <a:r>
              <a:rPr lang="en-US" sz="1200" dirty="0">
                <a:solidFill>
                  <a:schemeClr val="accent3"/>
                </a:solidFill>
              </a:rPr>
              <a:t>Guard lab: a query that tries to delete a table is stopped before it reaches the data.</a:t>
            </a:r>
            <a:endParaRPr lang="en-US" sz="1200" dirty="0"/>
          </a:p>
        </p:txBody>
      </p:sp>
      <p:sp>
        <p:nvSpPr>
          <p:cNvPr id="6" name="point 1 circle"/>
          <p:cNvSpPr/>
          <p:nvPr/>
        </p:nvSpPr>
        <p:spPr>
          <a:xfrm>
            <a:off x="7635240" y="1645920"/>
            <a:ext cx="457200" cy="457200"/>
          </a:xfrm>
          <a:prstGeom prst="ellipse">
            <a:avLst/>
          </a:prstGeom>
          <a:solidFill>
            <a:schemeClr val="tx1"/>
          </a:solidFill>
          <a:ln w="12700">
            <a:solidFill>
              <a:schemeClr val="tx1"/>
            </a:solidFill>
            <a:prstDash val="solid"/>
          </a:ln>
        </p:spPr>
      </p:sp>
      <p:pic>
        <p:nvPicPr>
          <p:cNvPr id="7" name="point 1 icon" descr="preencoded.png">    </p:cNvPr>
          <p:cNvPicPr>
            <a:picLocks noChangeAspect="1"/>
          </p:cNvPicPr>
          <p:nvPr/>
        </p:nvPicPr>
        <p:blipFill>
          <a:blip r:embed="rId2"/>
          <a:stretch>
            <a:fillRect/>
          </a:stretch>
        </p:blipFill>
        <p:spPr>
          <a:xfrm>
            <a:off x="7749540" y="1760220"/>
            <a:ext cx="228600" cy="228600"/>
          </a:xfrm>
          <a:prstGeom prst="rect">
            <a:avLst/>
          </a:prstGeom>
        </p:spPr>
      </p:pic>
      <p:sp>
        <p:nvSpPr>
          <p:cNvPr id="8" name="point 1 title"/>
          <p:cNvSpPr txBox="1"/>
          <p:nvPr/>
        </p:nvSpPr>
        <p:spPr>
          <a:xfrm>
            <a:off x="8275320" y="1627632"/>
            <a:ext cx="3367735" cy="320040"/>
          </a:xfrm>
          <a:prstGeom prst="rect">
            <a:avLst/>
          </a:prstGeom>
          <a:noFill/>
          <a:ln/>
        </p:spPr>
        <p:txBody>
          <a:bodyPr wrap="square" lIns="0" tIns="0" rIns="0" bIns="0" rtlCol="0" anchor="ctr"/>
          <a:lstStyle/>
          <a:p>
            <a:pPr indent="0" marL="0">
              <a:buNone/>
            </a:pPr>
            <a:r>
              <a:rPr lang="en-US" sz="1600" b="1" dirty="0">
                <a:solidFill>
                  <a:schemeClr val="tx1"/>
                </a:solidFill>
              </a:rPr>
              <a:t>Checks every query</a:t>
            </a:r>
            <a:endParaRPr lang="en-US" sz="1600" dirty="0"/>
          </a:p>
        </p:txBody>
      </p:sp>
      <p:sp>
        <p:nvSpPr>
          <p:cNvPr id="9" name="point 1 text"/>
          <p:cNvSpPr txBox="1"/>
          <p:nvPr/>
        </p:nvSpPr>
        <p:spPr>
          <a:xfrm>
            <a:off x="8275320" y="1975104"/>
            <a:ext cx="3367735" cy="822960"/>
          </a:xfrm>
          <a:prstGeom prst="rect">
            <a:avLst/>
          </a:prstGeom>
          <a:noFill/>
          <a:ln/>
        </p:spPr>
        <p:txBody>
          <a:bodyPr wrap="square" lIns="0" tIns="0" rIns="0" bIns="0" rtlCol="0" anchor="t"/>
          <a:lstStyle/>
          <a:p>
            <a:pPr indent="0" marL="0">
              <a:buNone/>
            </a:pPr>
            <a:r>
              <a:rPr lang="en-US" sz="1400" dirty="0">
                <a:solidFill>
                  <a:schemeClr val="tx2"/>
                </a:solidFill>
              </a:rPr>
              <a:t>Every query is read before it runs. Anything that deletes, changes or reaches outside the data is stopped.</a:t>
            </a:r>
            <a:endParaRPr lang="en-US" sz="1400" dirty="0"/>
          </a:p>
        </p:txBody>
      </p:sp>
      <p:sp>
        <p:nvSpPr>
          <p:cNvPr id="10" name="point 2 circle"/>
          <p:cNvSpPr/>
          <p:nvPr/>
        </p:nvSpPr>
        <p:spPr>
          <a:xfrm>
            <a:off x="7635240" y="2907792"/>
            <a:ext cx="457200" cy="457200"/>
          </a:xfrm>
          <a:prstGeom prst="ellipse">
            <a:avLst/>
          </a:prstGeom>
          <a:solidFill>
            <a:schemeClr val="tx1"/>
          </a:solidFill>
          <a:ln w="12700">
            <a:solidFill>
              <a:schemeClr val="tx1"/>
            </a:solidFill>
            <a:prstDash val="solid"/>
          </a:ln>
        </p:spPr>
      </p:sp>
      <p:pic>
        <p:nvPicPr>
          <p:cNvPr id="11" name="point 2 icon" descr="preencoded.png">    </p:cNvPr>
          <p:cNvPicPr>
            <a:picLocks noChangeAspect="1"/>
          </p:cNvPicPr>
          <p:nvPr/>
        </p:nvPicPr>
        <p:blipFill>
          <a:blip r:embed="rId3"/>
          <a:stretch>
            <a:fillRect/>
          </a:stretch>
        </p:blipFill>
        <p:spPr>
          <a:xfrm>
            <a:off x="7749540" y="3022092"/>
            <a:ext cx="228600" cy="228600"/>
          </a:xfrm>
          <a:prstGeom prst="rect">
            <a:avLst/>
          </a:prstGeom>
        </p:spPr>
      </p:pic>
      <p:sp>
        <p:nvSpPr>
          <p:cNvPr id="12" name="point 2 title"/>
          <p:cNvSpPr txBox="1"/>
          <p:nvPr/>
        </p:nvSpPr>
        <p:spPr>
          <a:xfrm>
            <a:off x="8275320" y="2889504"/>
            <a:ext cx="3367735" cy="320040"/>
          </a:xfrm>
          <a:prstGeom prst="rect">
            <a:avLst/>
          </a:prstGeom>
          <a:noFill/>
          <a:ln/>
        </p:spPr>
        <p:txBody>
          <a:bodyPr wrap="square" lIns="0" tIns="0" rIns="0" bIns="0" rtlCol="0" anchor="ctr"/>
          <a:lstStyle/>
          <a:p>
            <a:pPr indent="0" marL="0">
              <a:buNone/>
            </a:pPr>
            <a:r>
              <a:rPr lang="en-US" sz="1600" b="1" dirty="0">
                <a:solidFill>
                  <a:schemeClr val="tx1"/>
                </a:solidFill>
              </a:rPr>
              <a:t>Says no instead of guessing</a:t>
            </a:r>
            <a:endParaRPr lang="en-US" sz="1600" dirty="0"/>
          </a:p>
        </p:txBody>
      </p:sp>
      <p:sp>
        <p:nvSpPr>
          <p:cNvPr id="13" name="point 2 text"/>
          <p:cNvSpPr txBox="1"/>
          <p:nvPr/>
        </p:nvSpPr>
        <p:spPr>
          <a:xfrm>
            <a:off x="8275320" y="3236976"/>
            <a:ext cx="3367735" cy="822960"/>
          </a:xfrm>
          <a:prstGeom prst="rect">
            <a:avLst/>
          </a:prstGeom>
          <a:noFill/>
          <a:ln/>
        </p:spPr>
        <p:txBody>
          <a:bodyPr wrap="square" lIns="0" tIns="0" rIns="0" bIns="0" rtlCol="0" anchor="t"/>
          <a:lstStyle/>
          <a:p>
            <a:pPr indent="0" marL="0">
              <a:buNone/>
            </a:pPr>
            <a:r>
              <a:rPr lang="en-US" sz="1400" dirty="0">
                <a:solidFill>
                  <a:schemeClr val="tx2"/>
                </a:solidFill>
              </a:rPr>
              <a:t>If the data can't answer, like profit when there is no cost data, the app says so instead of making up a number.</a:t>
            </a:r>
            <a:endParaRPr lang="en-US" sz="1400" dirty="0"/>
          </a:p>
        </p:txBody>
      </p:sp>
      <p:sp>
        <p:nvSpPr>
          <p:cNvPr id="14" name="point 3 circle"/>
          <p:cNvSpPr/>
          <p:nvPr/>
        </p:nvSpPr>
        <p:spPr>
          <a:xfrm>
            <a:off x="7635240" y="4169664"/>
            <a:ext cx="457200" cy="457200"/>
          </a:xfrm>
          <a:prstGeom prst="ellipse">
            <a:avLst/>
          </a:prstGeom>
          <a:solidFill>
            <a:schemeClr val="tx1"/>
          </a:solidFill>
          <a:ln w="12700">
            <a:solidFill>
              <a:schemeClr val="tx1"/>
            </a:solidFill>
            <a:prstDash val="solid"/>
          </a:ln>
        </p:spPr>
      </p:sp>
      <p:pic>
        <p:nvPicPr>
          <p:cNvPr id="15" name="point 3 icon" descr="preencoded.png">    </p:cNvPr>
          <p:cNvPicPr>
            <a:picLocks noChangeAspect="1"/>
          </p:cNvPicPr>
          <p:nvPr/>
        </p:nvPicPr>
        <p:blipFill>
          <a:blip r:embed="rId4"/>
          <a:stretch>
            <a:fillRect/>
          </a:stretch>
        </p:blipFill>
        <p:spPr>
          <a:xfrm>
            <a:off x="7749540" y="4283964"/>
            <a:ext cx="228600" cy="228600"/>
          </a:xfrm>
          <a:prstGeom prst="rect">
            <a:avLst/>
          </a:prstGeom>
        </p:spPr>
      </p:pic>
      <p:sp>
        <p:nvSpPr>
          <p:cNvPr id="16" name="point 3 title"/>
          <p:cNvSpPr txBox="1"/>
          <p:nvPr/>
        </p:nvSpPr>
        <p:spPr>
          <a:xfrm>
            <a:off x="8275320" y="4151376"/>
            <a:ext cx="3367735" cy="320040"/>
          </a:xfrm>
          <a:prstGeom prst="rect">
            <a:avLst/>
          </a:prstGeom>
          <a:noFill/>
          <a:ln/>
        </p:spPr>
        <p:txBody>
          <a:bodyPr wrap="square" lIns="0" tIns="0" rIns="0" bIns="0" rtlCol="0" anchor="ctr"/>
          <a:lstStyle/>
          <a:p>
            <a:pPr indent="0" marL="0">
              <a:buNone/>
            </a:pPr>
            <a:r>
              <a:rPr lang="en-US" sz="1600" b="1" dirty="0">
                <a:solidFill>
                  <a:schemeClr val="tx1"/>
                </a:solidFill>
              </a:rPr>
              <a:t>Same rules every time</a:t>
            </a:r>
            <a:endParaRPr lang="en-US" sz="1600" dirty="0"/>
          </a:p>
        </p:txBody>
      </p:sp>
      <p:sp>
        <p:nvSpPr>
          <p:cNvPr id="17" name="point 3 text"/>
          <p:cNvSpPr txBox="1"/>
          <p:nvPr/>
        </p:nvSpPr>
        <p:spPr>
          <a:xfrm>
            <a:off x="8275320" y="4498848"/>
            <a:ext cx="3367735" cy="822960"/>
          </a:xfrm>
          <a:prstGeom prst="rect">
            <a:avLst/>
          </a:prstGeom>
          <a:noFill/>
          <a:ln/>
        </p:spPr>
        <p:txBody>
          <a:bodyPr wrap="square" lIns="0" tIns="0" rIns="0" bIns="0" rtlCol="0" anchor="t"/>
          <a:lstStyle/>
          <a:p>
            <a:pPr indent="0" marL="0">
              <a:buNone/>
            </a:pPr>
            <a:r>
              <a:rPr lang="en-US" sz="1400" dirty="0">
                <a:solidFill>
                  <a:schemeClr val="tx2"/>
                </a:solidFill>
              </a:rPr>
              <a:t>Words like “revenue” have one fixed formula, so answers stay consistent every time.</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t"/>
          <a:lstStyle/>
          <a:p>
            <a:pPr algn="l" indent="0" marL="0">
              <a:buNone/>
            </a:pPr>
            <a:r>
              <a:rPr lang="en-US" sz="3600" b="1" dirty="0">
                <a:solidFill>
                  <a:schemeClr val="tx1"/>
                </a:solidFill>
              </a:rPr>
              <a:t>Results on real data</a:t>
            </a:r>
            <a:endParaRPr lang="en-US" sz="3600" dirty="0"/>
          </a:p>
        </p:txBody>
      </p:sp>
      <p:sp>
        <p:nvSpPr>
          <p:cNvPr id="3" name="results intro"/>
          <p:cNvSpPr txBox="1"/>
          <p:nvPr/>
        </p:nvSpPr>
        <p:spPr>
          <a:xfrm>
            <a:off x="548640" y="1261872"/>
            <a:ext cx="11094415" cy="365760"/>
          </a:xfrm>
          <a:prstGeom prst="rect">
            <a:avLst/>
          </a:prstGeom>
          <a:noFill/>
          <a:ln/>
        </p:spPr>
        <p:txBody>
          <a:bodyPr wrap="square" lIns="0" tIns="0" rIns="0" bIns="0" rtlCol="0" anchor="ctr"/>
          <a:lstStyle/>
          <a:p>
            <a:pPr indent="0" marL="0">
              <a:buNone/>
            </a:pPr>
            <a:r>
              <a:rPr lang="en-US" sz="1600" dirty="0">
                <a:solidFill>
                  <a:schemeClr val="tx2"/>
                </a:solidFill>
              </a:rPr>
              <a:t>Tested like an exam: 22 questions with known answers, on 99,441 real orders from a Brazilian online store.</a:t>
            </a:r>
            <a:endParaRPr lang="en-US" sz="1600" dirty="0"/>
          </a:p>
        </p:txBody>
      </p:sp>
      <p:sp>
        <p:nvSpPr>
          <p:cNvPr id="4" name="stat 1 card"/>
          <p:cNvSpPr/>
          <p:nvPr/>
        </p:nvSpPr>
        <p:spPr>
          <a:xfrm>
            <a:off x="548640" y="1920240"/>
            <a:ext cx="2602154" cy="1737360"/>
          </a:xfrm>
          <a:prstGeom prst="roundRect">
            <a:avLst>
              <a:gd name="adj" fmla="val 5263"/>
            </a:avLst>
          </a:prstGeom>
          <a:solidFill>
            <a:schemeClr val="bg2"/>
          </a:solidFill>
          <a:ln w="12700">
            <a:solidFill>
              <a:schemeClr val="bg2"/>
            </a:solidFill>
            <a:prstDash val="solid"/>
          </a:ln>
        </p:spPr>
      </p:sp>
      <p:sp>
        <p:nvSpPr>
          <p:cNvPr id="5" name="stat 1 value"/>
          <p:cNvSpPr txBox="1"/>
          <p:nvPr/>
        </p:nvSpPr>
        <p:spPr>
          <a:xfrm>
            <a:off x="822960" y="2103120"/>
            <a:ext cx="2053514" cy="777240"/>
          </a:xfrm>
          <a:prstGeom prst="rect">
            <a:avLst/>
          </a:prstGeom>
          <a:noFill/>
          <a:ln/>
        </p:spPr>
        <p:txBody>
          <a:bodyPr wrap="square" lIns="0" tIns="0" rIns="0" bIns="0" rtlCol="0" anchor="ctr"/>
          <a:lstStyle/>
          <a:p>
            <a:pPr indent="0" marL="0">
              <a:buNone/>
            </a:pPr>
            <a:r>
              <a:rPr lang="en-US" sz="4800" b="1" dirty="0">
                <a:solidFill>
                  <a:schemeClr val="tx1"/>
                </a:solidFill>
              </a:rPr>
              <a:t>20/20</a:t>
            </a:r>
            <a:endParaRPr lang="en-US" sz="4800" dirty="0"/>
          </a:p>
        </p:txBody>
      </p:sp>
      <p:sp>
        <p:nvSpPr>
          <p:cNvPr id="6" name="stat 1 label"/>
          <p:cNvSpPr txBox="1"/>
          <p:nvPr/>
        </p:nvSpPr>
        <p:spPr>
          <a:xfrm>
            <a:off x="822960" y="2926080"/>
            <a:ext cx="2053514" cy="548640"/>
          </a:xfrm>
          <a:prstGeom prst="rect">
            <a:avLst/>
          </a:prstGeom>
          <a:noFill/>
          <a:ln/>
        </p:spPr>
        <p:txBody>
          <a:bodyPr wrap="square" lIns="0" tIns="0" rIns="0" bIns="0" rtlCol="0" anchor="t"/>
          <a:lstStyle/>
          <a:p>
            <a:pPr indent="0" marL="0">
              <a:buNone/>
            </a:pPr>
            <a:r>
              <a:rPr lang="en-US" sz="1400" dirty="0">
                <a:solidFill>
                  <a:schemeClr val="tx2"/>
                </a:solidFill>
              </a:rPr>
              <a:t>Regular questions</a:t>
            </a:r>
            <a:endParaRPr lang="en-US" sz="1400" dirty="0"/>
          </a:p>
          <a:p>
            <a:pPr indent="0" marL="0">
              <a:buNone/>
            </a:pPr>
            <a:r>
              <a:rPr lang="en-US" sz="1400" dirty="0">
                <a:solidFill>
                  <a:schemeClr val="tx2"/>
                </a:solidFill>
              </a:rPr>
              <a:t>answered correctly</a:t>
            </a:r>
            <a:endParaRPr lang="en-US" sz="1400" dirty="0"/>
          </a:p>
        </p:txBody>
      </p:sp>
      <p:sp>
        <p:nvSpPr>
          <p:cNvPr id="7" name="stat 2 card"/>
          <p:cNvSpPr/>
          <p:nvPr/>
        </p:nvSpPr>
        <p:spPr>
          <a:xfrm>
            <a:off x="3379394" y="1920240"/>
            <a:ext cx="2602154" cy="1737360"/>
          </a:xfrm>
          <a:prstGeom prst="roundRect">
            <a:avLst>
              <a:gd name="adj" fmla="val 5263"/>
            </a:avLst>
          </a:prstGeom>
          <a:solidFill>
            <a:schemeClr val="bg2"/>
          </a:solidFill>
          <a:ln w="12700">
            <a:solidFill>
              <a:schemeClr val="bg2"/>
            </a:solidFill>
            <a:prstDash val="solid"/>
          </a:ln>
        </p:spPr>
      </p:sp>
      <p:sp>
        <p:nvSpPr>
          <p:cNvPr id="8" name="stat 2 value"/>
          <p:cNvSpPr txBox="1"/>
          <p:nvPr/>
        </p:nvSpPr>
        <p:spPr>
          <a:xfrm>
            <a:off x="3653714" y="2103120"/>
            <a:ext cx="2053514" cy="777240"/>
          </a:xfrm>
          <a:prstGeom prst="rect">
            <a:avLst/>
          </a:prstGeom>
          <a:noFill/>
          <a:ln/>
        </p:spPr>
        <p:txBody>
          <a:bodyPr wrap="square" lIns="0" tIns="0" rIns="0" bIns="0" rtlCol="0" anchor="ctr"/>
          <a:lstStyle/>
          <a:p>
            <a:pPr indent="0" marL="0">
              <a:buNone/>
            </a:pPr>
            <a:r>
              <a:rPr lang="en-US" sz="4800" b="1" dirty="0">
                <a:solidFill>
                  <a:schemeClr val="tx1"/>
                </a:solidFill>
              </a:rPr>
              <a:t>2/2</a:t>
            </a:r>
            <a:endParaRPr lang="en-US" sz="4800" dirty="0"/>
          </a:p>
        </p:txBody>
      </p:sp>
      <p:sp>
        <p:nvSpPr>
          <p:cNvPr id="9" name="stat 2 label"/>
          <p:cNvSpPr txBox="1"/>
          <p:nvPr/>
        </p:nvSpPr>
        <p:spPr>
          <a:xfrm>
            <a:off x="3653714" y="2926080"/>
            <a:ext cx="2053514" cy="548640"/>
          </a:xfrm>
          <a:prstGeom prst="rect">
            <a:avLst/>
          </a:prstGeom>
          <a:noFill/>
          <a:ln/>
        </p:spPr>
        <p:txBody>
          <a:bodyPr wrap="square" lIns="0" tIns="0" rIns="0" bIns="0" rtlCol="0" anchor="t"/>
          <a:lstStyle/>
          <a:p>
            <a:pPr indent="0" marL="0">
              <a:buNone/>
            </a:pPr>
            <a:r>
              <a:rPr lang="en-US" sz="1400" dirty="0">
                <a:solidFill>
                  <a:schemeClr val="tx2"/>
                </a:solidFill>
              </a:rPr>
              <a:t>Impossible questions</a:t>
            </a:r>
            <a:endParaRPr lang="en-US" sz="1400" dirty="0"/>
          </a:p>
          <a:p>
            <a:pPr indent="0" marL="0">
              <a:buNone/>
            </a:pPr>
            <a:r>
              <a:rPr lang="en-US" sz="1400" dirty="0">
                <a:solidFill>
                  <a:schemeClr val="tx2"/>
                </a:solidFill>
              </a:rPr>
              <a:t>correctly refused</a:t>
            </a:r>
            <a:endParaRPr lang="en-US" sz="1400" dirty="0"/>
          </a:p>
        </p:txBody>
      </p:sp>
      <p:sp>
        <p:nvSpPr>
          <p:cNvPr id="10" name="stat 3 card"/>
          <p:cNvSpPr/>
          <p:nvPr/>
        </p:nvSpPr>
        <p:spPr>
          <a:xfrm>
            <a:off x="6210148" y="1920240"/>
            <a:ext cx="2602154" cy="1737360"/>
          </a:xfrm>
          <a:prstGeom prst="roundRect">
            <a:avLst>
              <a:gd name="adj" fmla="val 5263"/>
            </a:avLst>
          </a:prstGeom>
          <a:solidFill>
            <a:schemeClr val="bg2"/>
          </a:solidFill>
          <a:ln w="12700">
            <a:solidFill>
              <a:schemeClr val="bg2"/>
            </a:solidFill>
            <a:prstDash val="solid"/>
          </a:ln>
        </p:spPr>
      </p:sp>
      <p:sp>
        <p:nvSpPr>
          <p:cNvPr id="11" name="stat 3 value"/>
          <p:cNvSpPr txBox="1"/>
          <p:nvPr/>
        </p:nvSpPr>
        <p:spPr>
          <a:xfrm>
            <a:off x="6484468" y="2103120"/>
            <a:ext cx="2053514" cy="777240"/>
          </a:xfrm>
          <a:prstGeom prst="rect">
            <a:avLst/>
          </a:prstGeom>
          <a:noFill/>
          <a:ln/>
        </p:spPr>
        <p:txBody>
          <a:bodyPr wrap="square" lIns="0" tIns="0" rIns="0" bIns="0" rtlCol="0" anchor="ctr"/>
          <a:lstStyle/>
          <a:p>
            <a:pPr indent="0" marL="0">
              <a:buNone/>
            </a:pPr>
            <a:r>
              <a:rPr lang="en-US" sz="4800" b="1" dirty="0">
                <a:solidFill>
                  <a:schemeClr val="tx1"/>
                </a:solidFill>
              </a:rPr>
              <a:t>100%</a:t>
            </a:r>
            <a:endParaRPr lang="en-US" sz="4800" dirty="0"/>
          </a:p>
        </p:txBody>
      </p:sp>
      <p:sp>
        <p:nvSpPr>
          <p:cNvPr id="12" name="stat 3 label"/>
          <p:cNvSpPr txBox="1"/>
          <p:nvPr/>
        </p:nvSpPr>
        <p:spPr>
          <a:xfrm>
            <a:off x="6484468" y="2926080"/>
            <a:ext cx="2053514" cy="548640"/>
          </a:xfrm>
          <a:prstGeom prst="rect">
            <a:avLst/>
          </a:prstGeom>
          <a:noFill/>
          <a:ln/>
        </p:spPr>
        <p:txBody>
          <a:bodyPr wrap="square" lIns="0" tIns="0" rIns="0" bIns="0" rtlCol="0" anchor="t"/>
          <a:lstStyle/>
          <a:p>
            <a:pPr indent="0" marL="0">
              <a:buNone/>
            </a:pPr>
            <a:r>
              <a:rPr lang="en-US" sz="1400" dirty="0">
                <a:solidFill>
                  <a:schemeClr val="tx2"/>
                </a:solidFill>
              </a:rPr>
              <a:t>Queries ran</a:t>
            </a:r>
            <a:endParaRPr lang="en-US" sz="1400" dirty="0"/>
          </a:p>
          <a:p>
            <a:pPr indent="0" marL="0">
              <a:buNone/>
            </a:pPr>
            <a:r>
              <a:rPr lang="en-US" sz="1400" dirty="0">
                <a:solidFill>
                  <a:schemeClr val="tx2"/>
                </a:solidFill>
              </a:rPr>
              <a:t>without errors</a:t>
            </a:r>
            <a:endParaRPr lang="en-US" sz="1400" dirty="0"/>
          </a:p>
        </p:txBody>
      </p:sp>
      <p:sp>
        <p:nvSpPr>
          <p:cNvPr id="13" name="stat 4 card"/>
          <p:cNvSpPr/>
          <p:nvPr/>
        </p:nvSpPr>
        <p:spPr>
          <a:xfrm>
            <a:off x="9040901" y="1920240"/>
            <a:ext cx="2602154" cy="1737360"/>
          </a:xfrm>
          <a:prstGeom prst="roundRect">
            <a:avLst>
              <a:gd name="adj" fmla="val 5263"/>
            </a:avLst>
          </a:prstGeom>
          <a:solidFill>
            <a:schemeClr val="bg2"/>
          </a:solidFill>
          <a:ln w="12700">
            <a:solidFill>
              <a:schemeClr val="bg2"/>
            </a:solidFill>
            <a:prstDash val="solid"/>
          </a:ln>
        </p:spPr>
      </p:sp>
      <p:sp>
        <p:nvSpPr>
          <p:cNvPr id="14" name="stat 4 value"/>
          <p:cNvSpPr txBox="1"/>
          <p:nvPr/>
        </p:nvSpPr>
        <p:spPr>
          <a:xfrm>
            <a:off x="9315221" y="2103120"/>
            <a:ext cx="2053514" cy="777240"/>
          </a:xfrm>
          <a:prstGeom prst="rect">
            <a:avLst/>
          </a:prstGeom>
          <a:noFill/>
          <a:ln/>
        </p:spPr>
        <p:txBody>
          <a:bodyPr wrap="square" lIns="0" tIns="0" rIns="0" bIns="0" rtlCol="0" anchor="ctr"/>
          <a:lstStyle/>
          <a:p>
            <a:pPr indent="0" marL="0">
              <a:buNone/>
            </a:pPr>
            <a:r>
              <a:rPr lang="en-US" sz="4800" b="1" dirty="0">
                <a:solidFill>
                  <a:schemeClr val="tx1"/>
                </a:solidFill>
              </a:rPr>
              <a:t>1.3s</a:t>
            </a:r>
            <a:endParaRPr lang="en-US" sz="4800" dirty="0"/>
          </a:p>
        </p:txBody>
      </p:sp>
      <p:sp>
        <p:nvSpPr>
          <p:cNvPr id="15" name="stat 4 label"/>
          <p:cNvSpPr txBox="1"/>
          <p:nvPr/>
        </p:nvSpPr>
        <p:spPr>
          <a:xfrm>
            <a:off x="9315221" y="2926080"/>
            <a:ext cx="2053514" cy="548640"/>
          </a:xfrm>
          <a:prstGeom prst="rect">
            <a:avLst/>
          </a:prstGeom>
          <a:noFill/>
          <a:ln/>
        </p:spPr>
        <p:txBody>
          <a:bodyPr wrap="square" lIns="0" tIns="0" rIns="0" bIns="0" rtlCol="0" anchor="t"/>
          <a:lstStyle/>
          <a:p>
            <a:pPr indent="0" marL="0">
              <a:buNone/>
            </a:pPr>
            <a:r>
              <a:rPr lang="en-US" sz="1400" dirty="0">
                <a:solidFill>
                  <a:schemeClr val="tx2"/>
                </a:solidFill>
              </a:rPr>
              <a:t>Typical time</a:t>
            </a:r>
            <a:endParaRPr lang="en-US" sz="1400" dirty="0"/>
          </a:p>
          <a:p>
            <a:pPr indent="0" marL="0">
              <a:buNone/>
            </a:pPr>
            <a:r>
              <a:rPr lang="en-US" sz="1400" dirty="0">
                <a:solidFill>
                  <a:schemeClr val="tx2"/>
                </a:solidFill>
              </a:rPr>
              <a:t>to answer</a:t>
            </a:r>
            <a:endParaRPr lang="en-US" sz="1400" dirty="0"/>
          </a:p>
        </p:txBody>
      </p:sp>
      <p:sp>
        <p:nvSpPr>
          <p:cNvPr id="16" name="caught heading"/>
          <p:cNvSpPr txBox="1"/>
          <p:nvPr/>
        </p:nvSpPr>
        <p:spPr>
          <a:xfrm>
            <a:off x="548640" y="4069080"/>
            <a:ext cx="5394960" cy="365760"/>
          </a:xfrm>
          <a:prstGeom prst="rect">
            <a:avLst/>
          </a:prstGeom>
          <a:noFill/>
          <a:ln/>
        </p:spPr>
        <p:txBody>
          <a:bodyPr wrap="square" lIns="0" tIns="0" rIns="0" bIns="0" rtlCol="0" anchor="ctr"/>
          <a:lstStyle/>
          <a:p>
            <a:pPr indent="0" marL="0">
              <a:buNone/>
            </a:pPr>
            <a:r>
              <a:rPr lang="en-US" sz="1800" b="1" dirty="0">
                <a:solidFill>
                  <a:schemeClr val="tx1"/>
                </a:solidFill>
              </a:rPr>
              <a:t>What the testing caught</a:t>
            </a:r>
            <a:endParaRPr lang="en-US" sz="1800" dirty="0"/>
          </a:p>
        </p:txBody>
      </p:sp>
      <p:sp>
        <p:nvSpPr>
          <p:cNvPr id="17" name="caught text"/>
          <p:cNvSpPr txBox="1"/>
          <p:nvPr/>
        </p:nvSpPr>
        <p:spPr>
          <a:xfrm>
            <a:off x="548640" y="4526280"/>
            <a:ext cx="5394960" cy="1097280"/>
          </a:xfrm>
          <a:prstGeom prst="rect">
            <a:avLst/>
          </a:prstGeom>
          <a:noFill/>
          <a:ln/>
        </p:spPr>
        <p:txBody>
          <a:bodyPr wrap="square" lIns="0" tIns="0" rIns="0" bIns="0" rtlCol="0" anchor="t"/>
          <a:lstStyle/>
          <a:p>
            <a:pPr indent="0" marL="0">
              <a:buNone/>
            </a:pPr>
            <a:r>
              <a:rPr lang="en-US" sz="1400" dirty="0">
                <a:solidFill>
                  <a:schemeClr val="tx2"/>
                </a:solidFill>
              </a:rPr>
              <a:t>While building, the tests found two mistakes: a test question that had two right answers, and an instruction that confused the AI. Both were fixed, and the tests now check for them.</a:t>
            </a:r>
            <a:endParaRPr lang="en-US" sz="1400" dirty="0"/>
          </a:p>
        </p:txBody>
      </p:sp>
      <p:sp>
        <p:nvSpPr>
          <p:cNvPr id="18" name="next heading"/>
          <p:cNvSpPr txBox="1"/>
          <p:nvPr/>
        </p:nvSpPr>
        <p:spPr>
          <a:xfrm>
            <a:off x="6309360" y="4069080"/>
            <a:ext cx="5333695" cy="365760"/>
          </a:xfrm>
          <a:prstGeom prst="rect">
            <a:avLst/>
          </a:prstGeom>
          <a:noFill/>
          <a:ln/>
        </p:spPr>
        <p:txBody>
          <a:bodyPr wrap="square" lIns="0" tIns="0" rIns="0" bIns="0" rtlCol="0" anchor="ctr"/>
          <a:lstStyle/>
          <a:p>
            <a:pPr indent="0" marL="0">
              <a:buNone/>
            </a:pPr>
            <a:r>
              <a:rPr lang="en-US" sz="1800" b="1" dirty="0">
                <a:solidFill>
                  <a:schemeClr val="tx1"/>
                </a:solidFill>
              </a:rPr>
              <a:t>What comes next</a:t>
            </a:r>
            <a:endParaRPr lang="en-US" sz="1800" dirty="0"/>
          </a:p>
        </p:txBody>
      </p:sp>
      <p:sp>
        <p:nvSpPr>
          <p:cNvPr id="19" name="next points"/>
          <p:cNvSpPr txBox="1"/>
          <p:nvPr/>
        </p:nvSpPr>
        <p:spPr>
          <a:xfrm>
            <a:off x="6309360" y="4526280"/>
            <a:ext cx="5333695" cy="12801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2"/>
                </a:solidFill>
              </a:rPr>
              <a:t>Grow the test to 200 harder questions; 22 is still an easy test.</a:t>
            </a:r>
            <a:endParaRPr lang="en-US" sz="1400" dirty="0"/>
          </a:p>
          <a:p>
            <a:pPr marL="203200" indent="-203200">
              <a:spcAft>
                <a:spcPts val="600"/>
              </a:spcAft>
              <a:buSzPct val="100000"/>
              <a:buChar char="•"/>
            </a:pPr>
            <a:r>
              <a:rPr lang="en-US" sz="1400" dirty="0">
                <a:solidFill>
                  <a:schemeClr val="tx2"/>
                </a:solidFill>
              </a:rPr>
              <a:t>Let the app ask back when a question is unclear.</a:t>
            </a:r>
            <a:endParaRPr lang="en-US" sz="1400" dirty="0"/>
          </a:p>
          <a:p>
            <a:pPr marL="203200" indent="-203200">
              <a:spcAft>
                <a:spcPts val="600"/>
              </a:spcAft>
              <a:buSzPct val="100000"/>
              <a:buChar char="•"/>
            </a:pPr>
            <a:r>
              <a:rPr lang="en-US" sz="1400" dirty="0">
                <a:solidFill>
                  <a:schemeClr val="tx2"/>
                </a:solidFill>
              </a:rPr>
              <a:t>Put the app online so anyone can try it.</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698480" cy="1143000"/>
          </a:xfrm>
          <a:prstGeom prst="rect">
            <a:avLst/>
          </a:prstGeom>
          <a:noFill/>
          <a:ln/>
        </p:spPr>
        <p:txBody>
          <a:bodyPr wrap="square" lIns="0" tIns="0" rIns="0" bIns="0" rtlCol="0" anchor="t"/>
          <a:lstStyle/>
          <a:p>
            <a:pPr algn="l" indent="0" marL="0">
              <a:buNone/>
            </a:pPr>
            <a:r>
              <a:rPr lang="en-US" sz="6600" b="1" dirty="0">
                <a:solidFill>
                  <a:schemeClr val="bg1"/>
                </a:solidFill>
              </a:rPr>
              <a:t>Thank you</a:t>
            </a:r>
            <a:endParaRPr lang="en-US" sz="6600" dirty="0"/>
          </a:p>
        </p:txBody>
      </p:sp>
      <p:sp>
        <p:nvSpPr>
          <p:cNvPr id="3" name="Text 0"/>
          <p:cNvSpPr/>
          <p:nvPr>
            <p:ph idx="101" type="body" hasCustomPrompt="1"/>
          </p:nvPr>
        </p:nvSpPr>
        <p:spPr>
          <a:xfrm>
            <a:off x="731520" y="3383280"/>
            <a:ext cx="10058400" cy="548640"/>
          </a:xfrm>
          <a:prstGeom prst="rect">
            <a:avLst/>
          </a:prstGeom>
          <a:noFill/>
          <a:ln/>
        </p:spPr>
        <p:txBody>
          <a:bodyPr wrap="square" lIns="0" tIns="0" rIns="0" bIns="0" rtlCol="0" anchor="t"/>
          <a:lstStyle/>
          <a:p>
            <a:pPr algn="l" indent="0" marL="0">
              <a:buNone/>
            </a:pPr>
            <a:r>
              <a:rPr lang="en-US" sz="2400" dirty="0">
                <a:solidFill>
                  <a:schemeClr val="accent4"/>
                </a:solidFill>
              </a:rPr>
              <a:t>Questions are welcome</a:t>
            </a:r>
            <a:endParaRPr lang="en-US" sz="2400" dirty="0"/>
          </a:p>
        </p:txBody>
      </p:sp>
      <p:sp>
        <p:nvSpPr>
          <p:cNvPr id="4" name="credits"/>
          <p:cNvSpPr txBox="1"/>
          <p:nvPr/>
        </p:nvSpPr>
        <p:spPr>
          <a:xfrm>
            <a:off x="731520" y="4983480"/>
            <a:ext cx="10698480" cy="914400"/>
          </a:xfrm>
          <a:prstGeom prst="rect">
            <a:avLst/>
          </a:prstGeom>
          <a:noFill/>
          <a:ln/>
        </p:spPr>
        <p:txBody>
          <a:bodyPr wrap="square" lIns="0" tIns="0" rIns="0" bIns="0" rtlCol="0" anchor="t"/>
          <a:lstStyle/>
          <a:p>
            <a:pPr indent="0" marL="0">
              <a:spcAft>
                <a:spcPts val="300"/>
              </a:spcAft>
              <a:buNone/>
            </a:pPr>
            <a:r>
              <a:rPr lang="en-US" sz="1600" b="1" dirty="0">
                <a:solidFill>
                  <a:schemeClr val="bg1"/>
                </a:solidFill>
              </a:rPr>
              <a:t>Harinand AS</a:t>
            </a:r>
            <a:endParaRPr lang="en-US" sz="1600" dirty="0"/>
          </a:p>
          <a:p>
            <a:pPr indent="0" marL="0">
              <a:spcAft>
                <a:spcPts val="300"/>
              </a:spcAft>
              <a:buNone/>
            </a:pPr>
            <a:r>
              <a:rPr lang="en-US" sz="1300" dirty="0">
                <a:solidFill>
                  <a:schemeClr val="accent3"/>
                </a:solidFill>
              </a:rPr>
              <a:t>B.Tech AI &amp; ML  ·  S7  ·  Chinmaya Vishwa Vidyapeeth</a:t>
            </a:r>
            <a:endParaRPr lang="en-US" sz="1600" dirty="0"/>
          </a:p>
          <a:p>
            <a:pPr indent="0" marL="0">
              <a:spcAft>
                <a:spcPts val="300"/>
              </a:spcAft>
              <a:buNone/>
            </a:pPr>
            <a:r>
              <a:rPr lang="en-US" sz="1300" dirty="0">
                <a:solidFill>
                  <a:schemeClr val="accent3"/>
                </a:solidFill>
              </a:rPr>
              <a:t>Project guide: Alen T Binu, Assistant Professor, CST</a:t>
            </a:r>
            <a:endParaRPr lang="en-US" sz="1600" dirty="0"/>
          </a:p>
        </p:txBody>
      </p:sp>
    </p:spTree>
  </p:cSld>
  <p:clrMapOvr>
    <a:masterClrMapping/>
  </p:clrMapOvr>
</p:sld>
</file>

<file path=ppt/theme/theme1.xml><?xml version="1.0" encoding="utf-8"?>
<a:theme xmlns:a="http://schemas.openxmlformats.org/drawingml/2006/main" name="Monochrome">
  <a:themeElements>
    <a:clrScheme name="Monochrome">
      <a:dk1>
        <a:srgbClr val="111111"/>
      </a:dk1>
      <a:lt1>
        <a:srgbClr val="FFFFFF"/>
      </a:lt1>
      <a:dk2>
        <a:srgbClr val="555555"/>
      </a:dk2>
      <a:lt2>
        <a:srgbClr val="F5F5F5"/>
      </a:lt2>
      <a:accent1>
        <a:srgbClr val="111111"/>
      </a:accent1>
      <a:accent2>
        <a:srgbClr val="555555"/>
      </a:accent2>
      <a:accent3>
        <a:srgbClr val="8A8A8A"/>
      </a:accent3>
      <a:accent4>
        <a:srgbClr val="BBBBBB"/>
      </a:accent4>
      <a:accent5>
        <a:srgbClr val="DDDDDD"/>
      </a:accent5>
      <a:accent6>
        <a:srgbClr val="262626"/>
      </a:accent6>
      <a:hlink>
        <a:srgbClr val="111111"/>
      </a:hlink>
      <a:folHlink>
        <a:srgbClr val="555555"/>
      </a:folHlink>
    </a:clrScheme>
    <a:fontScheme name="Monochrom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Argus</dc:title>
  <dc:subject>PptxGenJS Presentation</dc:subject>
  <dc:creator>Harinand AS</dc:creator>
  <cp:lastModifiedBy>Harinand AS</cp:lastModifiedBy>
  <cp:revision>1</cp:revision>
  <dcterms:created xsi:type="dcterms:W3CDTF">2026-10-06T05:36:47Z</dcterms:created>
  <dcterms:modified xsi:type="dcterms:W3CDTF">2026-10-06T05:36:47Z</dcterms:modified>
</cp:coreProperties>
</file>